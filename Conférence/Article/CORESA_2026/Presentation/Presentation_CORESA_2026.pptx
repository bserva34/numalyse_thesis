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Heading Now 71-78" charset="1" panose="00000000000000000000"/>
      <p:regular r:id="rId40"/>
    </p:embeddedFont>
    <p:embeddedFont>
      <p:font typeface="Arimo Italics" charset="1" panose="020B0604020202090204"/>
      <p:regular r:id="rId41"/>
    </p:embeddedFont>
    <p:embeddedFont>
      <p:font typeface="Open Sans" charset="1" panose="020B0606030504020204"/>
      <p:regular r:id="rId42"/>
    </p:embeddedFont>
    <p:embeddedFont>
      <p:font typeface="Arimo Bold" charset="1" panose="020B0704020202020204"/>
      <p:regular r:id="rId43"/>
    </p:embeddedFont>
    <p:embeddedFont>
      <p:font typeface="Open Sans Bold" charset="1" panose="020B0806030504020204"/>
      <p:regular r:id="rId44"/>
    </p:embeddedFont>
    <p:embeddedFont>
      <p:font typeface="Open Sans Italics" charset="1" panose="020B0606030504020204"/>
      <p:regular r:id="rId45"/>
    </p:embeddedFont>
    <p:embeddedFont>
      <p:font typeface="Arimo" charset="1" panose="020B0604020202020204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VAHKTbVW2eE.mp4" Type="http://schemas.openxmlformats.org/officeDocument/2006/relationships/video"/><Relationship Id="rId4" Target="../media/VAHKTbVW2eE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media/image21.jpeg" Type="http://schemas.openxmlformats.org/officeDocument/2006/relationships/image"/><Relationship Id="rId7" Target="../media/image2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Relationship Id="rId6" Target="../media/image26.jpeg" Type="http://schemas.openxmlformats.org/officeDocument/2006/relationships/image"/><Relationship Id="rId7" Target="../media/image27.jpeg" Type="http://schemas.openxmlformats.org/officeDocument/2006/relationships/image"/><Relationship Id="rId8" Target="../media/image28.jpeg" Type="http://schemas.openxmlformats.org/officeDocument/2006/relationships/image"/><Relationship Id="rId9" Target="../media/image2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Relationship Id="rId6" Target="../media/image26.jpeg" Type="http://schemas.openxmlformats.org/officeDocument/2006/relationships/image"/><Relationship Id="rId7" Target="../media/image27.jpeg" Type="http://schemas.openxmlformats.org/officeDocument/2006/relationships/image"/><Relationship Id="rId8" Target="../media/image28.jpeg" Type="http://schemas.openxmlformats.org/officeDocument/2006/relationships/image"/><Relationship Id="rId9" Target="../media/image2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17.jpeg" Type="http://schemas.openxmlformats.org/officeDocument/2006/relationships/image"/><Relationship Id="rId4" Target="../media/image23.jpeg" Type="http://schemas.openxmlformats.org/officeDocument/2006/relationships/image"/><Relationship Id="rId5" Target="../media/image24.jpeg" Type="http://schemas.openxmlformats.org/officeDocument/2006/relationships/image"/><Relationship Id="rId6" Target="../media/image25.jpeg" Type="http://schemas.openxmlformats.org/officeDocument/2006/relationships/image"/><Relationship Id="rId7" Target="../media/image26.jpeg" Type="http://schemas.openxmlformats.org/officeDocument/2006/relationships/image"/><Relationship Id="rId8" Target="../media/image2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21.jpeg" Type="http://schemas.openxmlformats.org/officeDocument/2006/relationships/image"/><Relationship Id="rId4" Target="../media/image2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jpeg" Type="http://schemas.openxmlformats.org/officeDocument/2006/relationships/image"/><Relationship Id="rId2" Target="../media/image34.png" Type="http://schemas.openxmlformats.org/officeDocument/2006/relationships/image"/><Relationship Id="rId3" Target="../media/image35.jpeg" Type="http://schemas.openxmlformats.org/officeDocument/2006/relationships/image"/><Relationship Id="rId4" Target="../media/image36.jpeg" Type="http://schemas.openxmlformats.org/officeDocument/2006/relationships/image"/><Relationship Id="rId5" Target="../media/image37.jpeg" Type="http://schemas.openxmlformats.org/officeDocument/2006/relationships/image"/><Relationship Id="rId6" Target="../media/image38.jpeg" Type="http://schemas.openxmlformats.org/officeDocument/2006/relationships/image"/><Relationship Id="rId7" Target="../media/image39.jpeg" Type="http://schemas.openxmlformats.org/officeDocument/2006/relationships/image"/><Relationship Id="rId8" Target="../media/image40.jpeg" Type="http://schemas.openxmlformats.org/officeDocument/2006/relationships/image"/><Relationship Id="rId9" Target="../media/image4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Relationship Id="rId3" Target="../media/VAHFoUjmT14.mp4" Type="http://schemas.openxmlformats.org/officeDocument/2006/relationships/video"/><Relationship Id="rId4" Target="../media/VAHFoUjmT14.mp4" Type="http://schemas.microsoft.com/office/2007/relationships/media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46.jpeg" Type="http://schemas.openxmlformats.org/officeDocument/2006/relationships/image"/><Relationship Id="rId4" Target="../media/image47.jpeg" Type="http://schemas.openxmlformats.org/officeDocument/2006/relationships/image"/><Relationship Id="rId5" Target="../media/image48.jpeg" Type="http://schemas.openxmlformats.org/officeDocument/2006/relationships/image"/><Relationship Id="rId6" Target="../media/image49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jpeg" Type="http://schemas.openxmlformats.org/officeDocument/2006/relationships/image"/><Relationship Id="rId3" Target="../media/image53.jpeg" Type="http://schemas.openxmlformats.org/officeDocument/2006/relationships/image"/><Relationship Id="rId4" Target="../media/image54.jpeg" Type="http://schemas.openxmlformats.org/officeDocument/2006/relationships/image"/><Relationship Id="rId5" Target="../media/image55.jpe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jpeg" Type="http://schemas.openxmlformats.org/officeDocument/2006/relationships/image"/><Relationship Id="rId3" Target="../media/image53.jpeg" Type="http://schemas.openxmlformats.org/officeDocument/2006/relationships/image"/><Relationship Id="rId4" Target="../media/image54.jpeg" Type="http://schemas.openxmlformats.org/officeDocument/2006/relationships/image"/><Relationship Id="rId5" Target="../media/image55.jpe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1011" y="410614"/>
            <a:ext cx="1788667" cy="1788667"/>
          </a:xfrm>
          <a:custGeom>
            <a:avLst/>
            <a:gdLst/>
            <a:ahLst/>
            <a:cxnLst/>
            <a:rect r="r" b="b" t="t" l="l"/>
            <a:pathLst>
              <a:path h="1788667" w="1788667">
                <a:moveTo>
                  <a:pt x="0" y="0"/>
                </a:moveTo>
                <a:lnTo>
                  <a:pt x="1788667" y="0"/>
                </a:lnTo>
                <a:lnTo>
                  <a:pt x="1788667" y="1788667"/>
                </a:lnTo>
                <a:lnTo>
                  <a:pt x="0" y="1788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25575" y="410614"/>
            <a:ext cx="1882186" cy="1882186"/>
          </a:xfrm>
          <a:custGeom>
            <a:avLst/>
            <a:gdLst/>
            <a:ahLst/>
            <a:cxnLst/>
            <a:rect r="r" b="b" t="t" l="l"/>
            <a:pathLst>
              <a:path h="1882186" w="1882186">
                <a:moveTo>
                  <a:pt x="0" y="0"/>
                </a:moveTo>
                <a:lnTo>
                  <a:pt x="1882186" y="0"/>
                </a:lnTo>
                <a:lnTo>
                  <a:pt x="1882186" y="1882186"/>
                </a:lnTo>
                <a:lnTo>
                  <a:pt x="0" y="188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56406" y="74452"/>
            <a:ext cx="6795798" cy="2631616"/>
          </a:xfrm>
          <a:custGeom>
            <a:avLst/>
            <a:gdLst/>
            <a:ahLst/>
            <a:cxnLst/>
            <a:rect r="r" b="b" t="t" l="l"/>
            <a:pathLst>
              <a:path h="2631616" w="6795798">
                <a:moveTo>
                  <a:pt x="0" y="0"/>
                </a:moveTo>
                <a:lnTo>
                  <a:pt x="6795797" y="0"/>
                </a:lnTo>
                <a:lnTo>
                  <a:pt x="6795797" y="2631615"/>
                </a:lnTo>
                <a:lnTo>
                  <a:pt x="0" y="26316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068" r="0" b="-406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36034" y="5267522"/>
            <a:ext cx="4864375" cy="1595492"/>
          </a:xfrm>
          <a:custGeom>
            <a:avLst/>
            <a:gdLst/>
            <a:ahLst/>
            <a:cxnLst/>
            <a:rect r="r" b="b" t="t" l="l"/>
            <a:pathLst>
              <a:path h="1595492" w="4864375">
                <a:moveTo>
                  <a:pt x="0" y="0"/>
                </a:moveTo>
                <a:lnTo>
                  <a:pt x="4864375" y="0"/>
                </a:lnTo>
                <a:lnTo>
                  <a:pt x="4864375" y="1595492"/>
                </a:lnTo>
                <a:lnTo>
                  <a:pt x="0" y="1595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07802" y="410614"/>
            <a:ext cx="1956855" cy="1956855"/>
          </a:xfrm>
          <a:custGeom>
            <a:avLst/>
            <a:gdLst/>
            <a:ahLst/>
            <a:cxnLst/>
            <a:rect r="r" b="b" t="t" l="l"/>
            <a:pathLst>
              <a:path h="1956855" w="1956855">
                <a:moveTo>
                  <a:pt x="0" y="0"/>
                </a:moveTo>
                <a:lnTo>
                  <a:pt x="1956855" y="0"/>
                </a:lnTo>
                <a:lnTo>
                  <a:pt x="1956855" y="1956855"/>
                </a:lnTo>
                <a:lnTo>
                  <a:pt x="0" y="19568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7012" y="3268042"/>
            <a:ext cx="16162288" cy="140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sz="4901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 HISTOGRAM-BASED METHOD TO EXTRACT TAG-IMAGE FROM FILM SHOT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1011" y="9331325"/>
            <a:ext cx="1057862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i="true" u="sng">
                <a:solidFill>
                  <a:srgbClr val="060606"/>
                </a:solidFill>
                <a:latin typeface="Arimo Italics"/>
                <a:ea typeface="Arimo Italics"/>
                <a:cs typeface="Arimo Italics"/>
                <a:sym typeface="Arimo Italics"/>
              </a:rPr>
              <a:t>Supervisors</a:t>
            </a:r>
            <a:r>
              <a:rPr lang="en-US" sz="2800" i="true">
                <a:solidFill>
                  <a:srgbClr val="060606"/>
                </a:solidFill>
                <a:latin typeface="Arimo Italics"/>
                <a:ea typeface="Arimo Italics"/>
                <a:cs typeface="Arimo Italics"/>
                <a:sym typeface="Arimo Italics"/>
              </a:rPr>
              <a:t> : Olivier Strauss &amp; William Puech &amp; Frédéric Comby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60606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18288" y="6992825"/>
            <a:ext cx="251973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i="true">
                <a:solidFill>
                  <a:srgbClr val="060606"/>
                </a:solidFill>
                <a:latin typeface="Arimo Italics"/>
                <a:ea typeface="Arimo Italics"/>
                <a:cs typeface="Arimo Italics"/>
                <a:sym typeface="Arimo Italics"/>
              </a:rPr>
              <a:t>27-29 mai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1011" y="8820150"/>
            <a:ext cx="464742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Benjamin Serva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2480" y="2035758"/>
            <a:ext cx="7781925" cy="6215483"/>
            <a:chOff x="0" y="0"/>
            <a:chExt cx="10375900" cy="828731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725045"/>
              <a:ext cx="3111500" cy="2438400"/>
              <a:chOff x="0" y="0"/>
              <a:chExt cx="1037167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3716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37167">
                    <a:moveTo>
                      <a:pt x="53081" y="0"/>
                    </a:moveTo>
                    <a:lnTo>
                      <a:pt x="984086" y="0"/>
                    </a:lnTo>
                    <a:cubicBezTo>
                      <a:pt x="1013402" y="0"/>
                      <a:pt x="1037167" y="23765"/>
                      <a:pt x="1037167" y="53081"/>
                    </a:cubicBezTo>
                    <a:lnTo>
                      <a:pt x="1037167" y="759719"/>
                    </a:lnTo>
                    <a:cubicBezTo>
                      <a:pt x="1037167" y="789035"/>
                      <a:pt x="1013402" y="812800"/>
                      <a:pt x="984086" y="812800"/>
                    </a:cubicBezTo>
                    <a:lnTo>
                      <a:pt x="53081" y="812800"/>
                    </a:lnTo>
                    <a:cubicBezTo>
                      <a:pt x="23765" y="812800"/>
                      <a:pt x="0" y="789035"/>
                      <a:pt x="0" y="759719"/>
                    </a:cubicBezTo>
                    <a:lnTo>
                      <a:pt x="0" y="53081"/>
                    </a:lnTo>
                    <a:cubicBezTo>
                      <a:pt x="0" y="23765"/>
                      <a:pt x="23765" y="0"/>
                      <a:pt x="53081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9475" t="0" r="0" b="0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3210749" y="2725045"/>
              <a:ext cx="2971800" cy="2438400"/>
              <a:chOff x="0" y="0"/>
              <a:chExt cx="9906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906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90600">
                    <a:moveTo>
                      <a:pt x="55576" y="0"/>
                    </a:moveTo>
                    <a:lnTo>
                      <a:pt x="935024" y="0"/>
                    </a:lnTo>
                    <a:cubicBezTo>
                      <a:pt x="965718" y="0"/>
                      <a:pt x="990600" y="24882"/>
                      <a:pt x="990600" y="55576"/>
                    </a:cubicBezTo>
                    <a:lnTo>
                      <a:pt x="990600" y="757224"/>
                    </a:lnTo>
                    <a:cubicBezTo>
                      <a:pt x="990600" y="787918"/>
                      <a:pt x="965718" y="812800"/>
                      <a:pt x="935024" y="812800"/>
                    </a:cubicBezTo>
                    <a:lnTo>
                      <a:pt x="55576" y="812800"/>
                    </a:lnTo>
                    <a:cubicBezTo>
                      <a:pt x="24882" y="812800"/>
                      <a:pt x="0" y="787918"/>
                      <a:pt x="0" y="757224"/>
                    </a:cubicBezTo>
                    <a:lnTo>
                      <a:pt x="0" y="55576"/>
                    </a:lnTo>
                    <a:cubicBezTo>
                      <a:pt x="0" y="24882"/>
                      <a:pt x="24882" y="0"/>
                      <a:pt x="55576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27958" t="0" r="-27958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6261100" y="2725045"/>
              <a:ext cx="4114800" cy="2438400"/>
              <a:chOff x="0" y="0"/>
              <a:chExt cx="13716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3716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71600">
                    <a:moveTo>
                      <a:pt x="40138" y="0"/>
                    </a:moveTo>
                    <a:lnTo>
                      <a:pt x="1331462" y="0"/>
                    </a:lnTo>
                    <a:cubicBezTo>
                      <a:pt x="1353629" y="0"/>
                      <a:pt x="1371600" y="17971"/>
                      <a:pt x="1371600" y="40138"/>
                    </a:cubicBezTo>
                    <a:lnTo>
                      <a:pt x="1371600" y="772662"/>
                    </a:lnTo>
                    <a:cubicBezTo>
                      <a:pt x="1371600" y="794829"/>
                      <a:pt x="1353629" y="812800"/>
                      <a:pt x="1331462" y="812800"/>
                    </a:cubicBezTo>
                    <a:lnTo>
                      <a:pt x="40138" y="812800"/>
                    </a:lnTo>
                    <a:cubicBezTo>
                      <a:pt x="17971" y="812800"/>
                      <a:pt x="0" y="794829"/>
                      <a:pt x="0" y="772662"/>
                    </a:cubicBezTo>
                    <a:lnTo>
                      <a:pt x="0" y="40138"/>
                    </a:lnTo>
                    <a:cubicBezTo>
                      <a:pt x="0" y="17971"/>
                      <a:pt x="17971" y="0"/>
                      <a:pt x="40138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0757" t="0" r="-20757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588199" y="5848911"/>
              <a:ext cx="2434401" cy="2438400"/>
              <a:chOff x="0" y="0"/>
              <a:chExt cx="811467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146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1467">
                    <a:moveTo>
                      <a:pt x="67845" y="0"/>
                    </a:moveTo>
                    <a:lnTo>
                      <a:pt x="743623" y="0"/>
                    </a:lnTo>
                    <a:cubicBezTo>
                      <a:pt x="781092" y="0"/>
                      <a:pt x="811467" y="30375"/>
                      <a:pt x="811467" y="67845"/>
                    </a:cubicBezTo>
                    <a:lnTo>
                      <a:pt x="811467" y="744955"/>
                    </a:lnTo>
                    <a:cubicBezTo>
                      <a:pt x="811467" y="782425"/>
                      <a:pt x="781092" y="812800"/>
                      <a:pt x="743623" y="812800"/>
                    </a:cubicBezTo>
                    <a:lnTo>
                      <a:pt x="67845" y="812800"/>
                    </a:lnTo>
                    <a:cubicBezTo>
                      <a:pt x="30375" y="812800"/>
                      <a:pt x="0" y="782425"/>
                      <a:pt x="0" y="744955"/>
                    </a:cubicBezTo>
                    <a:lnTo>
                      <a:pt x="0" y="67845"/>
                    </a:lnTo>
                    <a:cubicBezTo>
                      <a:pt x="0" y="30375"/>
                      <a:pt x="30375" y="0"/>
                      <a:pt x="67845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9034" t="0" r="-39034" b="0"/>
                </a:stretch>
              </a:blipFill>
            </p:spPr>
          </p:sp>
        </p:grpSp>
        <p:sp>
          <p:nvSpPr>
            <p:cNvPr name="AutoShape 11" id="11"/>
            <p:cNvSpPr/>
            <p:nvPr/>
          </p:nvSpPr>
          <p:spPr>
            <a:xfrm flipV="true">
              <a:off x="575499" y="5163445"/>
              <a:ext cx="2624901" cy="685466"/>
            </a:xfrm>
            <a:prstGeom prst="line">
              <a:avLst/>
            </a:prstGeom>
            <a:ln cap="flat" w="50800">
              <a:solidFill>
                <a:srgbClr val="000000">
                  <a:alpha val="80000"/>
                </a:srgbClr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" id="12"/>
            <p:cNvGrpSpPr/>
            <p:nvPr/>
          </p:nvGrpSpPr>
          <p:grpSpPr>
            <a:xfrm rot="0">
              <a:off x="6565390" y="5848911"/>
              <a:ext cx="3205611" cy="2438400"/>
              <a:chOff x="0" y="0"/>
              <a:chExt cx="1068537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6853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68537">
                    <a:moveTo>
                      <a:pt x="51522" y="0"/>
                    </a:moveTo>
                    <a:lnTo>
                      <a:pt x="1017014" y="0"/>
                    </a:lnTo>
                    <a:cubicBezTo>
                      <a:pt x="1045470" y="0"/>
                      <a:pt x="1068537" y="23067"/>
                      <a:pt x="1068537" y="51522"/>
                    </a:cubicBezTo>
                    <a:lnTo>
                      <a:pt x="1068537" y="761278"/>
                    </a:lnTo>
                    <a:cubicBezTo>
                      <a:pt x="1068537" y="789733"/>
                      <a:pt x="1045470" y="812800"/>
                      <a:pt x="1017014" y="812800"/>
                    </a:cubicBezTo>
                    <a:lnTo>
                      <a:pt x="51522" y="812800"/>
                    </a:lnTo>
                    <a:cubicBezTo>
                      <a:pt x="23067" y="812800"/>
                      <a:pt x="0" y="789733"/>
                      <a:pt x="0" y="761278"/>
                    </a:cubicBezTo>
                    <a:lnTo>
                      <a:pt x="0" y="51522"/>
                    </a:lnTo>
                    <a:cubicBezTo>
                      <a:pt x="0" y="23067"/>
                      <a:pt x="23067" y="0"/>
                      <a:pt x="51522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7032" t="0" r="-7032" b="0"/>
                </a:stretch>
              </a:blip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6261100" y="2730830"/>
              <a:ext cx="4114800" cy="2438400"/>
              <a:chOff x="0" y="0"/>
              <a:chExt cx="13716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716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71600">
                    <a:moveTo>
                      <a:pt x="40138" y="0"/>
                    </a:moveTo>
                    <a:lnTo>
                      <a:pt x="1331462" y="0"/>
                    </a:lnTo>
                    <a:cubicBezTo>
                      <a:pt x="1353629" y="0"/>
                      <a:pt x="1371600" y="17971"/>
                      <a:pt x="1371600" y="40138"/>
                    </a:cubicBezTo>
                    <a:lnTo>
                      <a:pt x="1371600" y="772662"/>
                    </a:lnTo>
                    <a:cubicBezTo>
                      <a:pt x="1371600" y="794829"/>
                      <a:pt x="1353629" y="812800"/>
                      <a:pt x="1331462" y="812800"/>
                    </a:cubicBezTo>
                    <a:lnTo>
                      <a:pt x="40138" y="812800"/>
                    </a:lnTo>
                    <a:cubicBezTo>
                      <a:pt x="17971" y="812800"/>
                      <a:pt x="0" y="794829"/>
                      <a:pt x="0" y="772662"/>
                    </a:cubicBezTo>
                    <a:lnTo>
                      <a:pt x="0" y="40138"/>
                    </a:lnTo>
                    <a:cubicBezTo>
                      <a:pt x="0" y="17971"/>
                      <a:pt x="17971" y="0"/>
                      <a:pt x="40138" y="0"/>
                    </a:cubicBezTo>
                    <a:close/>
                  </a:path>
                </a:pathLst>
              </a:custGeom>
              <a:solidFill>
                <a:srgbClr val="000000">
                  <a:alpha val="9804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371600" cy="831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7" id="17"/>
            <p:cNvSpPr/>
            <p:nvPr/>
          </p:nvSpPr>
          <p:spPr>
            <a:xfrm flipH="true" flipV="true">
              <a:off x="6172200" y="5163445"/>
              <a:ext cx="3598800" cy="685466"/>
            </a:xfrm>
            <a:prstGeom prst="line">
              <a:avLst/>
            </a:prstGeom>
            <a:ln cap="flat" w="50800">
              <a:solidFill>
                <a:srgbClr val="000000">
                  <a:alpha val="80000"/>
                </a:srgbClr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8" id="18"/>
            <p:cNvGrpSpPr/>
            <p:nvPr/>
          </p:nvGrpSpPr>
          <p:grpSpPr>
            <a:xfrm rot="0">
              <a:off x="0" y="0"/>
              <a:ext cx="10375900" cy="2438400"/>
              <a:chOff x="0" y="0"/>
              <a:chExt cx="1643117" cy="38614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43117" cy="386142"/>
              </a:xfrm>
              <a:custGeom>
                <a:avLst/>
                <a:gdLst/>
                <a:ahLst/>
                <a:cxnLst/>
                <a:rect r="r" b="b" t="t" l="l"/>
                <a:pathLst>
                  <a:path h="386142" w="1643117">
                    <a:moveTo>
                      <a:pt x="15918" y="0"/>
                    </a:moveTo>
                    <a:lnTo>
                      <a:pt x="1627199" y="0"/>
                    </a:lnTo>
                    <a:cubicBezTo>
                      <a:pt x="1631420" y="0"/>
                      <a:pt x="1635469" y="1677"/>
                      <a:pt x="1638454" y="4662"/>
                    </a:cubicBezTo>
                    <a:cubicBezTo>
                      <a:pt x="1641440" y="7647"/>
                      <a:pt x="1643117" y="11696"/>
                      <a:pt x="1643117" y="15918"/>
                    </a:cubicBezTo>
                    <a:lnTo>
                      <a:pt x="1643117" y="370225"/>
                    </a:lnTo>
                    <a:cubicBezTo>
                      <a:pt x="1643117" y="374446"/>
                      <a:pt x="1641440" y="378495"/>
                      <a:pt x="1638454" y="381480"/>
                    </a:cubicBezTo>
                    <a:cubicBezTo>
                      <a:pt x="1635469" y="384465"/>
                      <a:pt x="1631420" y="386142"/>
                      <a:pt x="1627199" y="386142"/>
                    </a:cubicBezTo>
                    <a:lnTo>
                      <a:pt x="15918" y="386142"/>
                    </a:lnTo>
                    <a:cubicBezTo>
                      <a:pt x="11696" y="386142"/>
                      <a:pt x="7647" y="384465"/>
                      <a:pt x="4662" y="381480"/>
                    </a:cubicBezTo>
                    <a:cubicBezTo>
                      <a:pt x="1677" y="378495"/>
                      <a:pt x="0" y="374446"/>
                      <a:pt x="0" y="370225"/>
                    </a:cubicBezTo>
                    <a:lnTo>
                      <a:pt x="0" y="15918"/>
                    </a:lnTo>
                    <a:cubicBezTo>
                      <a:pt x="0" y="11696"/>
                      <a:pt x="1677" y="7647"/>
                      <a:pt x="4662" y="4662"/>
                    </a:cubicBezTo>
                    <a:cubicBezTo>
                      <a:pt x="7647" y="1677"/>
                      <a:pt x="11696" y="0"/>
                      <a:pt x="15918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-20920" r="0" b="-20920"/>
                </a:stretch>
              </a:blip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3111500" y="5848911"/>
              <a:ext cx="1491740" cy="2438400"/>
              <a:chOff x="0" y="0"/>
              <a:chExt cx="497247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9724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97247">
                    <a:moveTo>
                      <a:pt x="110717" y="0"/>
                    </a:moveTo>
                    <a:lnTo>
                      <a:pt x="386530" y="0"/>
                    </a:lnTo>
                    <a:cubicBezTo>
                      <a:pt x="415894" y="0"/>
                      <a:pt x="444055" y="11665"/>
                      <a:pt x="464818" y="32428"/>
                    </a:cubicBezTo>
                    <a:cubicBezTo>
                      <a:pt x="485582" y="53192"/>
                      <a:pt x="497247" y="81353"/>
                      <a:pt x="497247" y="110717"/>
                    </a:cubicBezTo>
                    <a:lnTo>
                      <a:pt x="497247" y="702083"/>
                    </a:lnTo>
                    <a:cubicBezTo>
                      <a:pt x="497247" y="763230"/>
                      <a:pt x="447677" y="812800"/>
                      <a:pt x="386530" y="812800"/>
                    </a:cubicBezTo>
                    <a:lnTo>
                      <a:pt x="110717" y="812800"/>
                    </a:lnTo>
                    <a:cubicBezTo>
                      <a:pt x="81353" y="812800"/>
                      <a:pt x="53192" y="801135"/>
                      <a:pt x="32428" y="780372"/>
                    </a:cubicBezTo>
                    <a:cubicBezTo>
                      <a:pt x="11665" y="759608"/>
                      <a:pt x="0" y="731447"/>
                      <a:pt x="0" y="702083"/>
                    </a:cubicBezTo>
                    <a:lnTo>
                      <a:pt x="0" y="110717"/>
                    </a:lnTo>
                    <a:cubicBezTo>
                      <a:pt x="0" y="81353"/>
                      <a:pt x="11665" y="53192"/>
                      <a:pt x="32428" y="32428"/>
                    </a:cubicBezTo>
                    <a:cubicBezTo>
                      <a:pt x="53192" y="11665"/>
                      <a:pt x="81353" y="0"/>
                      <a:pt x="110717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75864" t="0" r="-75864" b="0"/>
                </a:stretch>
              </a:blip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4692140" y="5848911"/>
              <a:ext cx="1784350" cy="2438400"/>
              <a:chOff x="0" y="0"/>
              <a:chExt cx="594783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9478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594783">
                    <a:moveTo>
                      <a:pt x="92561" y="0"/>
                    </a:moveTo>
                    <a:lnTo>
                      <a:pt x="502222" y="0"/>
                    </a:lnTo>
                    <a:cubicBezTo>
                      <a:pt x="553342" y="0"/>
                      <a:pt x="594783" y="41441"/>
                      <a:pt x="594783" y="92561"/>
                    </a:cubicBezTo>
                    <a:lnTo>
                      <a:pt x="594783" y="720239"/>
                    </a:lnTo>
                    <a:cubicBezTo>
                      <a:pt x="594783" y="771359"/>
                      <a:pt x="553342" y="812800"/>
                      <a:pt x="502222" y="812800"/>
                    </a:cubicBezTo>
                    <a:lnTo>
                      <a:pt x="92561" y="812800"/>
                    </a:lnTo>
                    <a:cubicBezTo>
                      <a:pt x="41441" y="812800"/>
                      <a:pt x="0" y="771359"/>
                      <a:pt x="0" y="720239"/>
                    </a:cubicBezTo>
                    <a:lnTo>
                      <a:pt x="0" y="92561"/>
                    </a:lnTo>
                    <a:cubicBezTo>
                      <a:pt x="0" y="41441"/>
                      <a:pt x="41441" y="0"/>
                      <a:pt x="92561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108859" t="0" r="-116569" b="0"/>
                </a:stretch>
              </a:blip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5174" y="2730830"/>
              <a:ext cx="3111500" cy="2438400"/>
              <a:chOff x="0" y="0"/>
              <a:chExt cx="1037167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3716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37167">
                    <a:moveTo>
                      <a:pt x="53081" y="0"/>
                    </a:moveTo>
                    <a:lnTo>
                      <a:pt x="984086" y="0"/>
                    </a:lnTo>
                    <a:cubicBezTo>
                      <a:pt x="1013402" y="0"/>
                      <a:pt x="1037167" y="23765"/>
                      <a:pt x="1037167" y="53081"/>
                    </a:cubicBezTo>
                    <a:lnTo>
                      <a:pt x="1037167" y="759719"/>
                    </a:lnTo>
                    <a:cubicBezTo>
                      <a:pt x="1037167" y="789035"/>
                      <a:pt x="1013402" y="812800"/>
                      <a:pt x="984086" y="812800"/>
                    </a:cubicBezTo>
                    <a:lnTo>
                      <a:pt x="53081" y="812800"/>
                    </a:lnTo>
                    <a:cubicBezTo>
                      <a:pt x="23765" y="812800"/>
                      <a:pt x="0" y="789035"/>
                      <a:pt x="0" y="759719"/>
                    </a:cubicBezTo>
                    <a:lnTo>
                      <a:pt x="0" y="53081"/>
                    </a:lnTo>
                    <a:cubicBezTo>
                      <a:pt x="0" y="23765"/>
                      <a:pt x="23765" y="0"/>
                      <a:pt x="53081" y="0"/>
                    </a:cubicBezTo>
                    <a:close/>
                  </a:path>
                </a:pathLst>
              </a:custGeom>
              <a:solidFill>
                <a:srgbClr val="000000">
                  <a:alpha val="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1037167" cy="8318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621823" y="4584749"/>
              <a:ext cx="1878202" cy="5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b="true" sz="26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Scene 1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3693923" y="4584749"/>
              <a:ext cx="1878202" cy="5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b="true" sz="26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Scene 2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379399" y="4584749"/>
              <a:ext cx="1878202" cy="5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b="true" sz="26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Scene N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904368" y="7718140"/>
              <a:ext cx="1878202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Shot 1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918269" y="7718140"/>
              <a:ext cx="1878202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Shot 2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751708" y="7740153"/>
              <a:ext cx="1878202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Shot 3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7561704" y="7718140"/>
              <a:ext cx="1878202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Shot 4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4221747" y="712008"/>
              <a:ext cx="2075122" cy="858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9"/>
                </a:lnSpc>
              </a:pPr>
              <a:r>
                <a:rPr lang="en-US" sz="38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Movie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9220891" y="2699328"/>
            <a:ext cx="1441617" cy="418069"/>
          </a:xfrm>
          <a:custGeom>
            <a:avLst/>
            <a:gdLst/>
            <a:ahLst/>
            <a:cxnLst/>
            <a:rect r="r" b="b" t="t" l="l"/>
            <a:pathLst>
              <a:path h="418069" w="1441617">
                <a:moveTo>
                  <a:pt x="0" y="0"/>
                </a:moveTo>
                <a:lnTo>
                  <a:pt x="1441616" y="0"/>
                </a:lnTo>
                <a:lnTo>
                  <a:pt x="1441616" y="418068"/>
                </a:lnTo>
                <a:lnTo>
                  <a:pt x="0" y="418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Context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3449" y="9210675"/>
            <a:ext cx="1784804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[1] Soucek, T., &amp; Lokoc, J. (2024).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TransNet V2: An Effective Deep Network Architecture for Fast Shot Transition Detection.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3449" y="9593613"/>
            <a:ext cx="1498678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[2] Chasanis, V., L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ikas, A., &amp; Galatsanos, N. (2008).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Scene detection in videos using shot clustering and sequence alignment.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9220891" y="4641817"/>
            <a:ext cx="1441617" cy="418069"/>
          </a:xfrm>
          <a:custGeom>
            <a:avLst/>
            <a:gdLst/>
            <a:ahLst/>
            <a:cxnLst/>
            <a:rect r="r" b="b" t="t" l="l"/>
            <a:pathLst>
              <a:path h="418069" w="1441617">
                <a:moveTo>
                  <a:pt x="0" y="0"/>
                </a:moveTo>
                <a:lnTo>
                  <a:pt x="1441616" y="0"/>
                </a:lnTo>
                <a:lnTo>
                  <a:pt x="1441616" y="418069"/>
                </a:lnTo>
                <a:lnTo>
                  <a:pt x="0" y="4180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220891" y="7049730"/>
            <a:ext cx="1441617" cy="418069"/>
          </a:xfrm>
          <a:custGeom>
            <a:avLst/>
            <a:gdLst/>
            <a:ahLst/>
            <a:cxnLst/>
            <a:rect r="r" b="b" t="t" l="l"/>
            <a:pathLst>
              <a:path h="418069" w="1441617">
                <a:moveTo>
                  <a:pt x="0" y="0"/>
                </a:moveTo>
                <a:lnTo>
                  <a:pt x="1441616" y="0"/>
                </a:lnTo>
                <a:lnTo>
                  <a:pt x="1441616" y="418068"/>
                </a:lnTo>
                <a:lnTo>
                  <a:pt x="0" y="418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1110516" y="2680278"/>
            <a:ext cx="50771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Dozens of scenes in a movie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110516" y="4412701"/>
            <a:ext cx="588611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Dozens of shots per scene, resulting in hundreds of shots per movie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110516" y="6479626"/>
            <a:ext cx="5886118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From a few seconds to several tens of seconds per shot, representing hundreds of frames for each individual shot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84069" y="1764667"/>
            <a:ext cx="15519862" cy="658172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3704" y="9550400"/>
            <a:ext cx="496446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[7]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A. Mann, “Man of the west,” Film, 1958.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90939" y="8472762"/>
            <a:ext cx="930612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Video 1. </a:t>
            </a: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Shot taken from the film “Man of the West” [7].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Problematic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7007" y="1846162"/>
            <a:ext cx="9708518" cy="7789695"/>
            <a:chOff x="0" y="0"/>
            <a:chExt cx="2556976" cy="20516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6976" cy="2051607"/>
            </a:xfrm>
            <a:custGeom>
              <a:avLst/>
              <a:gdLst/>
              <a:ahLst/>
              <a:cxnLst/>
              <a:rect r="r" b="b" t="t" l="l"/>
              <a:pathLst>
                <a:path h="2051607" w="2556976">
                  <a:moveTo>
                    <a:pt x="0" y="0"/>
                  </a:moveTo>
                  <a:lnTo>
                    <a:pt x="2556976" y="0"/>
                  </a:lnTo>
                  <a:lnTo>
                    <a:pt x="2556976" y="2051607"/>
                  </a:lnTo>
                  <a:lnTo>
                    <a:pt x="0" y="205160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556976" cy="2061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18447" y="2309782"/>
            <a:ext cx="3966215" cy="1794768"/>
          </a:xfrm>
          <a:custGeom>
            <a:avLst/>
            <a:gdLst/>
            <a:ahLst/>
            <a:cxnLst/>
            <a:rect r="r" b="b" t="t" l="l"/>
            <a:pathLst>
              <a:path h="1794768" w="3966215">
                <a:moveTo>
                  <a:pt x="0" y="0"/>
                </a:moveTo>
                <a:lnTo>
                  <a:pt x="3966214" y="0"/>
                </a:lnTo>
                <a:lnTo>
                  <a:pt x="3966214" y="1794768"/>
                </a:lnTo>
                <a:lnTo>
                  <a:pt x="0" y="17947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73068" y="2309782"/>
            <a:ext cx="3966215" cy="1794768"/>
          </a:xfrm>
          <a:custGeom>
            <a:avLst/>
            <a:gdLst/>
            <a:ahLst/>
            <a:cxnLst/>
            <a:rect r="r" b="b" t="t" l="l"/>
            <a:pathLst>
              <a:path h="1794768" w="3966215">
                <a:moveTo>
                  <a:pt x="0" y="0"/>
                </a:moveTo>
                <a:lnTo>
                  <a:pt x="3966215" y="0"/>
                </a:lnTo>
                <a:lnTo>
                  <a:pt x="3966215" y="1794768"/>
                </a:lnTo>
                <a:lnTo>
                  <a:pt x="0" y="1794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8447" y="4768671"/>
            <a:ext cx="3966215" cy="1794768"/>
          </a:xfrm>
          <a:custGeom>
            <a:avLst/>
            <a:gdLst/>
            <a:ahLst/>
            <a:cxnLst/>
            <a:rect r="r" b="b" t="t" l="l"/>
            <a:pathLst>
              <a:path h="1794768" w="3966215">
                <a:moveTo>
                  <a:pt x="0" y="0"/>
                </a:moveTo>
                <a:lnTo>
                  <a:pt x="3966214" y="0"/>
                </a:lnTo>
                <a:lnTo>
                  <a:pt x="3966214" y="1794767"/>
                </a:lnTo>
                <a:lnTo>
                  <a:pt x="0" y="17947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8447" y="7230188"/>
            <a:ext cx="3960405" cy="1792139"/>
          </a:xfrm>
          <a:custGeom>
            <a:avLst/>
            <a:gdLst/>
            <a:ahLst/>
            <a:cxnLst/>
            <a:rect r="r" b="b" t="t" l="l"/>
            <a:pathLst>
              <a:path h="1792139" w="3960405">
                <a:moveTo>
                  <a:pt x="0" y="0"/>
                </a:moveTo>
                <a:lnTo>
                  <a:pt x="3960405" y="0"/>
                </a:lnTo>
                <a:lnTo>
                  <a:pt x="3960405" y="1792139"/>
                </a:lnTo>
                <a:lnTo>
                  <a:pt x="0" y="17921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73068" y="4768671"/>
            <a:ext cx="3966215" cy="1794768"/>
          </a:xfrm>
          <a:custGeom>
            <a:avLst/>
            <a:gdLst/>
            <a:ahLst/>
            <a:cxnLst/>
            <a:rect r="r" b="b" t="t" l="l"/>
            <a:pathLst>
              <a:path h="1794768" w="3966215">
                <a:moveTo>
                  <a:pt x="0" y="0"/>
                </a:moveTo>
                <a:lnTo>
                  <a:pt x="3966215" y="0"/>
                </a:lnTo>
                <a:lnTo>
                  <a:pt x="3966215" y="1794767"/>
                </a:lnTo>
                <a:lnTo>
                  <a:pt x="0" y="1794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973068" y="7227559"/>
            <a:ext cx="3966215" cy="1794768"/>
          </a:xfrm>
          <a:custGeom>
            <a:avLst/>
            <a:gdLst/>
            <a:ahLst/>
            <a:cxnLst/>
            <a:rect r="r" b="b" t="t" l="l"/>
            <a:pathLst>
              <a:path h="1794768" w="3966215">
                <a:moveTo>
                  <a:pt x="0" y="0"/>
                </a:moveTo>
                <a:lnTo>
                  <a:pt x="3966215" y="0"/>
                </a:lnTo>
                <a:lnTo>
                  <a:pt x="3966215" y="1794768"/>
                </a:lnTo>
                <a:lnTo>
                  <a:pt x="0" y="17947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Problematic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35581" y="2414068"/>
            <a:ext cx="6740579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How can we extract a frame from a shot that would allow it to be identified within a movie?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17002" y="5253425"/>
            <a:ext cx="6986730" cy="233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Challenges in Cinema</a:t>
            </a: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 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Multiple types of content (humans, animals, landscapes, etc.) depending on the film’s style or genre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Content variation within a single shot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78861" y="338394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State of the art / Limitations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370" y="9210675"/>
            <a:ext cx="151245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[3]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Widiarto, W., Yuniarno, E. M., &amp; Hariadi, M. (2015).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Video summarization using a key frame selection based on shot segmentation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449" y="9593613"/>
            <a:ext cx="1388885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[4]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Pei, X. (2021).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The key frame extraction algorithm based on the indigenous disturbance variation difference video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1244" y="8163815"/>
            <a:ext cx="340463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Movement - Pei [2]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4721" y="8163815"/>
            <a:ext cx="506344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Naive method - Widiarto et al. [1]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122090" y="3577137"/>
            <a:ext cx="6922939" cy="3132726"/>
          </a:xfrm>
          <a:custGeom>
            <a:avLst/>
            <a:gdLst/>
            <a:ahLst/>
            <a:cxnLst/>
            <a:rect r="r" b="b" t="t" l="l"/>
            <a:pathLst>
              <a:path h="3132726" w="6922939">
                <a:moveTo>
                  <a:pt x="0" y="0"/>
                </a:moveTo>
                <a:lnTo>
                  <a:pt x="6922939" y="0"/>
                </a:lnTo>
                <a:lnTo>
                  <a:pt x="6922939" y="3132726"/>
                </a:lnTo>
                <a:lnTo>
                  <a:pt x="0" y="3132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8857" y="2783002"/>
            <a:ext cx="3966215" cy="1794768"/>
          </a:xfrm>
          <a:custGeom>
            <a:avLst/>
            <a:gdLst/>
            <a:ahLst/>
            <a:cxnLst/>
            <a:rect r="r" b="b" t="t" l="l"/>
            <a:pathLst>
              <a:path h="1794768" w="3966215">
                <a:moveTo>
                  <a:pt x="0" y="0"/>
                </a:moveTo>
                <a:lnTo>
                  <a:pt x="3966215" y="0"/>
                </a:lnTo>
                <a:lnTo>
                  <a:pt x="3966215" y="1794768"/>
                </a:lnTo>
                <a:lnTo>
                  <a:pt x="0" y="1794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81190" y="5495538"/>
            <a:ext cx="3910508" cy="1769560"/>
          </a:xfrm>
          <a:custGeom>
            <a:avLst/>
            <a:gdLst/>
            <a:ahLst/>
            <a:cxnLst/>
            <a:rect r="r" b="b" t="t" l="l"/>
            <a:pathLst>
              <a:path h="1769560" w="3910508">
                <a:moveTo>
                  <a:pt x="0" y="0"/>
                </a:moveTo>
                <a:lnTo>
                  <a:pt x="3910508" y="0"/>
                </a:lnTo>
                <a:lnTo>
                  <a:pt x="3910508" y="1769559"/>
                </a:lnTo>
                <a:lnTo>
                  <a:pt x="0" y="1769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697459" y="2783002"/>
            <a:ext cx="3966215" cy="1794768"/>
          </a:xfrm>
          <a:custGeom>
            <a:avLst/>
            <a:gdLst/>
            <a:ahLst/>
            <a:cxnLst/>
            <a:rect r="r" b="b" t="t" l="l"/>
            <a:pathLst>
              <a:path h="1794768" w="3966215">
                <a:moveTo>
                  <a:pt x="0" y="0"/>
                </a:moveTo>
                <a:lnTo>
                  <a:pt x="3966214" y="0"/>
                </a:lnTo>
                <a:lnTo>
                  <a:pt x="3966214" y="1794768"/>
                </a:lnTo>
                <a:lnTo>
                  <a:pt x="0" y="1794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4568245"/>
            <a:ext cx="475316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First Frame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9862" y="7335618"/>
            <a:ext cx="475316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Middle Frame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03984" y="4568245"/>
            <a:ext cx="475316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Last Frame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101" y="9119532"/>
            <a:ext cx="172015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[5]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Zhang, Y., Zhang, J., Liu, R., Zhu, P., &amp; Liu, Y. (2022).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Key frame extraction based on quaternion Fourier transform with multiple features fusion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101" y="9421157"/>
            <a:ext cx="15218198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[6]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Chen, M., Han, X., Zhang, H., Lin, G., &amp; Kamruzzaman, M. (2019).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Quality-guided key frames selection from video stream based on object detection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73700" y="6653410"/>
            <a:ext cx="538566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Complex features - Zhang et al. [3]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58045" y="6653410"/>
            <a:ext cx="372684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Human - Chen et al. [4]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8861" y="338394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State of the art / Limitations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48466" y="2982196"/>
            <a:ext cx="6636130" cy="3002941"/>
          </a:xfrm>
          <a:custGeom>
            <a:avLst/>
            <a:gdLst/>
            <a:ahLst/>
            <a:cxnLst/>
            <a:rect r="r" b="b" t="t" l="l"/>
            <a:pathLst>
              <a:path h="3002941" w="6636130">
                <a:moveTo>
                  <a:pt x="0" y="0"/>
                </a:moveTo>
                <a:lnTo>
                  <a:pt x="6636130" y="0"/>
                </a:lnTo>
                <a:lnTo>
                  <a:pt x="6636130" y="3002941"/>
                </a:lnTo>
                <a:lnTo>
                  <a:pt x="0" y="3002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03404" y="2982196"/>
            <a:ext cx="6636130" cy="3002941"/>
          </a:xfrm>
          <a:custGeom>
            <a:avLst/>
            <a:gdLst/>
            <a:ahLst/>
            <a:cxnLst/>
            <a:rect r="r" b="b" t="t" l="l"/>
            <a:pathLst>
              <a:path h="3002941" w="6636130">
                <a:moveTo>
                  <a:pt x="0" y="0"/>
                </a:moveTo>
                <a:lnTo>
                  <a:pt x="6636130" y="0"/>
                </a:lnTo>
                <a:lnTo>
                  <a:pt x="6636130" y="3002941"/>
                </a:lnTo>
                <a:lnTo>
                  <a:pt x="0" y="3002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3368" y="4044922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30263" y="4044922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7" y="0"/>
                </a:lnTo>
                <a:lnTo>
                  <a:pt x="4064607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90145" y="4044922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50026" y="4044922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3368" y="6490075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30263" y="6490075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7" y="0"/>
                </a:lnTo>
                <a:lnTo>
                  <a:pt x="4064607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90145" y="6490075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50026" y="6469150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3704" y="9550400"/>
            <a:ext cx="496446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[7]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A. Mann, “Man of the west,” Film, 1958.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9756" y="1857359"/>
            <a:ext cx="17024876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Keyframe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keyframe is a frame that represents the starting and ending points of a movement, motion, or animation. Based on this frame, created by the animator, the intermediate frames—or in-betweens—are drawn (or calculated by the computer, depending on the technique) to depict the motion.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3368" y="3651912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34852" y="3651912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96336" y="3651912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57821" y="3651912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3368" y="6116725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91138" y="6137650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08908" y="6158575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26679" y="6179500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90939" y="8348416"/>
            <a:ext cx="930612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Keyframes of the shot taken from the film “Man of the West” [5].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Term Specification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3368" y="4044922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30263" y="4044922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7" y="0"/>
                </a:lnTo>
                <a:lnTo>
                  <a:pt x="4064607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90145" y="4044922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50026" y="4044922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3368" y="6490075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30263" y="6490075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7" y="0"/>
                </a:lnTo>
                <a:lnTo>
                  <a:pt x="4064607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90145" y="6490075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76200" cap="sq">
            <a:solidFill>
              <a:srgbClr val="00BF63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650026" y="6469150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3704" y="9550400"/>
            <a:ext cx="496446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[7]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A. Mann, “Man of the west,” Film, 1958.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9756" y="1857359"/>
            <a:ext cx="170248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Tag-Image</a:t>
            </a:r>
            <a:r>
              <a:rPr lang="en-US" b="true" sz="2399">
                <a:solidFill>
                  <a:srgbClr val="E23C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 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image that allows a film shot to be recognized or located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3368" y="3651912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strike="sngStrike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34852" y="3651912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strike="sngStrike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96336" y="3651912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strike="sngStrike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57821" y="3651912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strike="sngStrike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3368" y="6116725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strike="sngStrike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91138" y="6137650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strike="sngStrike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10245" y="5950900"/>
            <a:ext cx="394285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Tag-Image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26679" y="6179500"/>
            <a:ext cx="39428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strike="sngStrike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Keyframe 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90939" y="8376991"/>
            <a:ext cx="930612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Tag-Image of the shot taken from the film “Man of the West” [5].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Term Specification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71204" y="5868632"/>
            <a:ext cx="10592488" cy="204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Tag-Image</a:t>
            </a:r>
            <a:r>
              <a:rPr lang="en-US" sz="2899" b="true">
                <a:solidFill>
                  <a:srgbClr val="E23C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8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Single image extracted from a film shot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Designed to best represent the shot’s content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Visually lightweight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Term Specification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71204" y="2462989"/>
            <a:ext cx="8512438" cy="255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E23C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Keyframe </a:t>
            </a:r>
            <a:r>
              <a:rPr lang="en-US" sz="28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 of images extracted from a film shot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Images representing different moments or movements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Visually heavy for representing a single shot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8184" y="2437740"/>
            <a:ext cx="1242308" cy="12423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0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Contents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60606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24266" y="2523716"/>
            <a:ext cx="8512438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 for automatic extraction of a tag-image in a movie shot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4266" y="4888974"/>
            <a:ext cx="8512438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Experimentation and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24266" y="7078455"/>
            <a:ext cx="8512438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 and Perspectives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8184" y="4642073"/>
            <a:ext cx="1242308" cy="124230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0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98184" y="6846406"/>
            <a:ext cx="1242308" cy="124230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0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646" y="3245797"/>
            <a:ext cx="16954500" cy="3793569"/>
          </a:xfrm>
          <a:custGeom>
            <a:avLst/>
            <a:gdLst/>
            <a:ahLst/>
            <a:cxnLst/>
            <a:rect r="r" b="b" t="t" l="l"/>
            <a:pathLst>
              <a:path h="3793569" w="16954500">
                <a:moveTo>
                  <a:pt x="0" y="0"/>
                </a:moveTo>
                <a:lnTo>
                  <a:pt x="16954500" y="0"/>
                </a:lnTo>
                <a:lnTo>
                  <a:pt x="16954500" y="3793569"/>
                </a:lnTo>
                <a:lnTo>
                  <a:pt x="0" y="3793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Our method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90103" y="7236779"/>
            <a:ext cx="337521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Method overview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2296" y="1949208"/>
            <a:ext cx="10410825" cy="2316409"/>
          </a:xfrm>
          <a:custGeom>
            <a:avLst/>
            <a:gdLst/>
            <a:ahLst/>
            <a:cxnLst/>
            <a:rect r="r" b="b" t="t" l="l"/>
            <a:pathLst>
              <a:path h="2316409" w="10410825">
                <a:moveTo>
                  <a:pt x="0" y="0"/>
                </a:moveTo>
                <a:lnTo>
                  <a:pt x="10410825" y="0"/>
                </a:lnTo>
                <a:lnTo>
                  <a:pt x="10410825" y="2316409"/>
                </a:lnTo>
                <a:lnTo>
                  <a:pt x="0" y="2316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Basis of the method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98393" y="5719261"/>
            <a:ext cx="1828800" cy="1828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2E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Object Detector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00688" y="5955479"/>
            <a:ext cx="1343025" cy="1343025"/>
            <a:chOff x="0" y="0"/>
            <a:chExt cx="1790700" cy="17907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790700" cy="179070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</p:spPr>
            <p:txBody>
              <a:bodyPr anchor="ctr" rtlCol="false" tIns="37306" lIns="37306" bIns="37306" rIns="37306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59377" y="1593772"/>
              <a:ext cx="1671945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3" id="13"/>
            <p:cNvSpPr/>
            <p:nvPr/>
          </p:nvSpPr>
          <p:spPr>
            <a:xfrm flipV="true">
              <a:off x="207567" y="33437"/>
              <a:ext cx="0" cy="1684238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14" id="14"/>
            <p:cNvGrpSpPr/>
            <p:nvPr/>
          </p:nvGrpSpPr>
          <p:grpSpPr>
            <a:xfrm rot="0">
              <a:off x="224678" y="344264"/>
              <a:ext cx="179740" cy="1230416"/>
              <a:chOff x="0" y="0"/>
              <a:chExt cx="81584" cy="55848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584" cy="558487"/>
              </a:xfrm>
              <a:custGeom>
                <a:avLst/>
                <a:gdLst/>
                <a:ahLst/>
                <a:cxnLst/>
                <a:rect r="r" b="b" t="t" l="l"/>
                <a:pathLst>
                  <a:path h="558487" w="81584">
                    <a:moveTo>
                      <a:pt x="0" y="0"/>
                    </a:moveTo>
                    <a:lnTo>
                      <a:pt x="81584" y="0"/>
                    </a:lnTo>
                    <a:lnTo>
                      <a:pt x="81584" y="558487"/>
                    </a:lnTo>
                    <a:lnTo>
                      <a:pt x="0" y="558487"/>
                    </a:lnTo>
                    <a:close/>
                  </a:path>
                </a:pathLst>
              </a:custGeom>
              <a:solidFill>
                <a:srgbClr val="427CA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81584" cy="587062"/>
              </a:xfrm>
              <a:prstGeom prst="rect">
                <a:avLst/>
              </a:prstGeom>
            </p:spPr>
            <p:txBody>
              <a:bodyPr anchor="ctr" rtlCol="false" tIns="37306" lIns="37306" bIns="37306" rIns="37306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04417" y="808727"/>
              <a:ext cx="179740" cy="765953"/>
              <a:chOff x="0" y="0"/>
              <a:chExt cx="81584" cy="34766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584" cy="347667"/>
              </a:xfrm>
              <a:custGeom>
                <a:avLst/>
                <a:gdLst/>
                <a:ahLst/>
                <a:cxnLst/>
                <a:rect r="r" b="b" t="t" l="l"/>
                <a:pathLst>
                  <a:path h="347667" w="81584">
                    <a:moveTo>
                      <a:pt x="0" y="0"/>
                    </a:moveTo>
                    <a:lnTo>
                      <a:pt x="81584" y="0"/>
                    </a:lnTo>
                    <a:lnTo>
                      <a:pt x="81584" y="347667"/>
                    </a:lnTo>
                    <a:lnTo>
                      <a:pt x="0" y="347667"/>
                    </a:lnTo>
                    <a:close/>
                  </a:path>
                </a:pathLst>
              </a:custGeom>
              <a:solidFill>
                <a:srgbClr val="427CA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81584" cy="376242"/>
              </a:xfrm>
              <a:prstGeom prst="rect">
                <a:avLst/>
              </a:prstGeom>
            </p:spPr>
            <p:txBody>
              <a:bodyPr anchor="ctr" rtlCol="false" tIns="37306" lIns="37306" bIns="37306" rIns="37306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84157" y="637118"/>
              <a:ext cx="179740" cy="937562"/>
              <a:chOff x="0" y="0"/>
              <a:chExt cx="81584" cy="42556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584" cy="425560"/>
              </a:xfrm>
              <a:custGeom>
                <a:avLst/>
                <a:gdLst/>
                <a:ahLst/>
                <a:cxnLst/>
                <a:rect r="r" b="b" t="t" l="l"/>
                <a:pathLst>
                  <a:path h="425560" w="81584">
                    <a:moveTo>
                      <a:pt x="0" y="0"/>
                    </a:moveTo>
                    <a:lnTo>
                      <a:pt x="81584" y="0"/>
                    </a:lnTo>
                    <a:lnTo>
                      <a:pt x="81584" y="425560"/>
                    </a:lnTo>
                    <a:lnTo>
                      <a:pt x="0" y="425560"/>
                    </a:lnTo>
                    <a:close/>
                  </a:path>
                </a:pathLst>
              </a:custGeom>
              <a:solidFill>
                <a:srgbClr val="427C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81584" cy="454135"/>
              </a:xfrm>
              <a:prstGeom prst="rect">
                <a:avLst/>
              </a:prstGeom>
            </p:spPr>
            <p:txBody>
              <a:bodyPr anchor="ctr" rtlCol="false" tIns="37306" lIns="37306" bIns="37306" rIns="37306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763897" y="1234018"/>
              <a:ext cx="179740" cy="340662"/>
              <a:chOff x="0" y="0"/>
              <a:chExt cx="81584" cy="15462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584" cy="154627"/>
              </a:xfrm>
              <a:custGeom>
                <a:avLst/>
                <a:gdLst/>
                <a:ahLst/>
                <a:cxnLst/>
                <a:rect r="r" b="b" t="t" l="l"/>
                <a:pathLst>
                  <a:path h="154627" w="81584">
                    <a:moveTo>
                      <a:pt x="0" y="0"/>
                    </a:moveTo>
                    <a:lnTo>
                      <a:pt x="81584" y="0"/>
                    </a:lnTo>
                    <a:lnTo>
                      <a:pt x="81584" y="154627"/>
                    </a:lnTo>
                    <a:lnTo>
                      <a:pt x="0" y="154627"/>
                    </a:lnTo>
                    <a:close/>
                  </a:path>
                </a:pathLst>
              </a:custGeom>
              <a:solidFill>
                <a:srgbClr val="427CAD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81584" cy="183202"/>
              </a:xfrm>
              <a:prstGeom prst="rect">
                <a:avLst/>
              </a:prstGeom>
            </p:spPr>
            <p:txBody>
              <a:bodyPr anchor="ctr" rtlCol="false" tIns="37306" lIns="37306" bIns="37306" rIns="37306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943637" y="959472"/>
              <a:ext cx="179740" cy="615208"/>
              <a:chOff x="0" y="0"/>
              <a:chExt cx="81584" cy="27924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584" cy="279243"/>
              </a:xfrm>
              <a:custGeom>
                <a:avLst/>
                <a:gdLst/>
                <a:ahLst/>
                <a:cxnLst/>
                <a:rect r="r" b="b" t="t" l="l"/>
                <a:pathLst>
                  <a:path h="279243" w="81584">
                    <a:moveTo>
                      <a:pt x="0" y="0"/>
                    </a:moveTo>
                    <a:lnTo>
                      <a:pt x="81584" y="0"/>
                    </a:lnTo>
                    <a:lnTo>
                      <a:pt x="81584" y="279243"/>
                    </a:lnTo>
                    <a:lnTo>
                      <a:pt x="0" y="279243"/>
                    </a:lnTo>
                    <a:close/>
                  </a:path>
                </a:pathLst>
              </a:custGeom>
              <a:solidFill>
                <a:srgbClr val="427CA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81584" cy="307818"/>
              </a:xfrm>
              <a:prstGeom prst="rect">
                <a:avLst/>
              </a:prstGeom>
            </p:spPr>
            <p:txBody>
              <a:bodyPr anchor="ctr" rtlCol="false" tIns="37306" lIns="37306" bIns="37306" rIns="37306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123376" y="394283"/>
              <a:ext cx="179740" cy="1180398"/>
              <a:chOff x="0" y="0"/>
              <a:chExt cx="81584" cy="53578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584" cy="535783"/>
              </a:xfrm>
              <a:custGeom>
                <a:avLst/>
                <a:gdLst/>
                <a:ahLst/>
                <a:cxnLst/>
                <a:rect r="r" b="b" t="t" l="l"/>
                <a:pathLst>
                  <a:path h="535783" w="81584">
                    <a:moveTo>
                      <a:pt x="0" y="0"/>
                    </a:moveTo>
                    <a:lnTo>
                      <a:pt x="81584" y="0"/>
                    </a:lnTo>
                    <a:lnTo>
                      <a:pt x="81584" y="535783"/>
                    </a:lnTo>
                    <a:lnTo>
                      <a:pt x="0" y="535783"/>
                    </a:lnTo>
                    <a:close/>
                  </a:path>
                </a:pathLst>
              </a:custGeom>
              <a:solidFill>
                <a:srgbClr val="427CA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28575"/>
                <a:ext cx="81584" cy="564358"/>
              </a:xfrm>
              <a:prstGeom prst="rect">
                <a:avLst/>
              </a:prstGeom>
            </p:spPr>
            <p:txBody>
              <a:bodyPr anchor="ctr" rtlCol="false" tIns="37306" lIns="37306" bIns="37306" rIns="37306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301176" y="317805"/>
              <a:ext cx="179740" cy="1256876"/>
              <a:chOff x="0" y="0"/>
              <a:chExt cx="81584" cy="570497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584" cy="570497"/>
              </a:xfrm>
              <a:custGeom>
                <a:avLst/>
                <a:gdLst/>
                <a:ahLst/>
                <a:cxnLst/>
                <a:rect r="r" b="b" t="t" l="l"/>
                <a:pathLst>
                  <a:path h="570497" w="81584">
                    <a:moveTo>
                      <a:pt x="0" y="0"/>
                    </a:moveTo>
                    <a:lnTo>
                      <a:pt x="81584" y="0"/>
                    </a:lnTo>
                    <a:lnTo>
                      <a:pt x="81584" y="570497"/>
                    </a:lnTo>
                    <a:lnTo>
                      <a:pt x="0" y="570497"/>
                    </a:lnTo>
                    <a:close/>
                  </a:path>
                </a:pathLst>
              </a:custGeom>
              <a:solidFill>
                <a:srgbClr val="427CA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81584" cy="599072"/>
              </a:xfrm>
              <a:prstGeom prst="rect">
                <a:avLst/>
              </a:prstGeom>
            </p:spPr>
            <p:txBody>
              <a:bodyPr anchor="ctr" rtlCol="false" tIns="37306" lIns="37306" bIns="37306" rIns="37306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3903027" y="6019866"/>
            <a:ext cx="1053930" cy="988913"/>
            <a:chOff x="0" y="0"/>
            <a:chExt cx="588246" cy="55195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8246" cy="551957"/>
            </a:xfrm>
            <a:custGeom>
              <a:avLst/>
              <a:gdLst/>
              <a:ahLst/>
              <a:cxnLst/>
              <a:rect r="r" b="b" t="t" l="l"/>
              <a:pathLst>
                <a:path h="551957" w="588246">
                  <a:moveTo>
                    <a:pt x="0" y="0"/>
                  </a:moveTo>
                  <a:lnTo>
                    <a:pt x="588246" y="0"/>
                  </a:lnTo>
                  <a:lnTo>
                    <a:pt x="588246" y="551957"/>
                  </a:lnTo>
                  <a:lnTo>
                    <a:pt x="0" y="551957"/>
                  </a:lnTo>
                  <a:close/>
                </a:path>
              </a:pathLst>
            </a:custGeom>
            <a:solidFill>
              <a:srgbClr val="FFFBA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88246" cy="590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Tag Image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98393" y="7630598"/>
            <a:ext cx="181186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N labels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66267" y="7623928"/>
            <a:ext cx="181186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N bins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684037" y="7301709"/>
            <a:ext cx="549191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Frame that best captures the semantic content of the shot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1888" y="1948815"/>
            <a:ext cx="10410825" cy="2316409"/>
          </a:xfrm>
          <a:custGeom>
            <a:avLst/>
            <a:gdLst/>
            <a:ahLst/>
            <a:cxnLst/>
            <a:rect r="r" b="b" t="t" l="l"/>
            <a:pathLst>
              <a:path h="2316409" w="10410825">
                <a:moveTo>
                  <a:pt x="0" y="0"/>
                </a:moveTo>
                <a:lnTo>
                  <a:pt x="10410824" y="0"/>
                </a:lnTo>
                <a:lnTo>
                  <a:pt x="10410824" y="2316409"/>
                </a:lnTo>
                <a:lnTo>
                  <a:pt x="0" y="2316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87017" y="5267875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7" y="0"/>
                </a:lnTo>
                <a:lnTo>
                  <a:pt x="4064607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45406" y="5267875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05287" y="5267875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87017" y="7419009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7" y="0"/>
                </a:lnTo>
                <a:lnTo>
                  <a:pt x="4064607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45406" y="7419009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03794" y="7419009"/>
            <a:ext cx="4064606" cy="1839291"/>
          </a:xfrm>
          <a:custGeom>
            <a:avLst/>
            <a:gdLst/>
            <a:ahLst/>
            <a:cxnLst/>
            <a:rect r="r" b="b" t="t" l="l"/>
            <a:pathLst>
              <a:path h="1839291" w="4064606">
                <a:moveTo>
                  <a:pt x="0" y="0"/>
                </a:moveTo>
                <a:lnTo>
                  <a:pt x="4064606" y="0"/>
                </a:lnTo>
                <a:lnTo>
                  <a:pt x="4064606" y="1839291"/>
                </a:lnTo>
                <a:lnTo>
                  <a:pt x="0" y="18392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982086" y="6269983"/>
            <a:ext cx="1838373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982086" y="7038395"/>
            <a:ext cx="1838373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3010661" y="6269983"/>
            <a:ext cx="0" cy="768412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4791885" y="6269983"/>
            <a:ext cx="0" cy="768412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7442634" y="6241408"/>
            <a:ext cx="1838373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7442634" y="7009820"/>
            <a:ext cx="1838373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7471209" y="6241408"/>
            <a:ext cx="0" cy="768412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9252433" y="6241408"/>
            <a:ext cx="0" cy="768412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017748" y="5657907"/>
            <a:ext cx="1068762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2046323" y="5657907"/>
            <a:ext cx="0" cy="1420685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7004050" y="7559191"/>
            <a:ext cx="1838373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7004050" y="8989376"/>
            <a:ext cx="1838373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8813848" y="7559191"/>
            <a:ext cx="0" cy="1430185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1600592" y="7476159"/>
            <a:ext cx="3360569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 flipV="true">
            <a:off x="11629167" y="7476159"/>
            <a:ext cx="0" cy="1701447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2017748" y="7078591"/>
            <a:ext cx="1068762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13057935" y="5657907"/>
            <a:ext cx="0" cy="1420685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3300143" y="7447584"/>
            <a:ext cx="1068762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3328718" y="7447584"/>
            <a:ext cx="0" cy="1420685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3300143" y="8896844"/>
            <a:ext cx="1068762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4340331" y="7447584"/>
            <a:ext cx="0" cy="1420685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7032625" y="7559191"/>
            <a:ext cx="0" cy="1430185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14932586" y="7447584"/>
            <a:ext cx="0" cy="1730022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1600592" y="9177606"/>
            <a:ext cx="3360569" cy="0"/>
          </a:xfrm>
          <a:prstGeom prst="line">
            <a:avLst/>
          </a:prstGeom>
          <a:ln cap="flat" w="5715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3828855" y="6581772"/>
            <a:ext cx="144835" cy="14483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Weighting 1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290359" y="6553197"/>
            <a:ext cx="144835" cy="14483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479712" y="6295832"/>
            <a:ext cx="144835" cy="14483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237590" y="8254465"/>
            <a:ext cx="144835" cy="14483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850819" y="8201866"/>
            <a:ext cx="144835" cy="14483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762107" y="8099796"/>
            <a:ext cx="144835" cy="14483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1888" y="1948815"/>
            <a:ext cx="10410825" cy="2316409"/>
          </a:xfrm>
          <a:custGeom>
            <a:avLst/>
            <a:gdLst/>
            <a:ahLst/>
            <a:cxnLst/>
            <a:rect r="r" b="b" t="t" l="l"/>
            <a:pathLst>
              <a:path h="2316409" w="10410825">
                <a:moveTo>
                  <a:pt x="0" y="0"/>
                </a:moveTo>
                <a:lnTo>
                  <a:pt x="10410824" y="0"/>
                </a:lnTo>
                <a:lnTo>
                  <a:pt x="10410824" y="2316409"/>
                </a:lnTo>
                <a:lnTo>
                  <a:pt x="0" y="2316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Weighting 2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808127" y="5606094"/>
            <a:ext cx="6211239" cy="2810672"/>
          </a:xfrm>
          <a:custGeom>
            <a:avLst/>
            <a:gdLst/>
            <a:ahLst/>
            <a:cxnLst/>
            <a:rect r="r" b="b" t="t" l="l"/>
            <a:pathLst>
              <a:path h="2810672" w="6211239">
                <a:moveTo>
                  <a:pt x="0" y="0"/>
                </a:moveTo>
                <a:lnTo>
                  <a:pt x="6211239" y="0"/>
                </a:lnTo>
                <a:lnTo>
                  <a:pt x="6211239" y="2810672"/>
                </a:lnTo>
                <a:lnTo>
                  <a:pt x="0" y="2810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E23C4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775300" y="5606094"/>
            <a:ext cx="6211239" cy="2810672"/>
          </a:xfrm>
          <a:custGeom>
            <a:avLst/>
            <a:gdLst/>
            <a:ahLst/>
            <a:cxnLst/>
            <a:rect r="r" b="b" t="t" l="l"/>
            <a:pathLst>
              <a:path h="2810672" w="6211239">
                <a:moveTo>
                  <a:pt x="0" y="0"/>
                </a:moveTo>
                <a:lnTo>
                  <a:pt x="6211238" y="0"/>
                </a:lnTo>
                <a:lnTo>
                  <a:pt x="6211238" y="2810672"/>
                </a:lnTo>
                <a:lnTo>
                  <a:pt x="0" y="2810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BF63"/>
            </a:solidFill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1888" y="1948815"/>
            <a:ext cx="10410825" cy="2316409"/>
          </a:xfrm>
          <a:custGeom>
            <a:avLst/>
            <a:gdLst/>
            <a:ahLst/>
            <a:cxnLst/>
            <a:rect r="r" b="b" t="t" l="l"/>
            <a:pathLst>
              <a:path h="2316409" w="10410825">
                <a:moveTo>
                  <a:pt x="0" y="0"/>
                </a:moveTo>
                <a:lnTo>
                  <a:pt x="10410824" y="0"/>
                </a:lnTo>
                <a:lnTo>
                  <a:pt x="10410824" y="2316409"/>
                </a:lnTo>
                <a:lnTo>
                  <a:pt x="0" y="2316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02494" y="5143500"/>
            <a:ext cx="3246926" cy="1469279"/>
          </a:xfrm>
          <a:custGeom>
            <a:avLst/>
            <a:gdLst/>
            <a:ahLst/>
            <a:cxnLst/>
            <a:rect r="r" b="b" t="t" l="l"/>
            <a:pathLst>
              <a:path h="1469279" w="3246926">
                <a:moveTo>
                  <a:pt x="0" y="0"/>
                </a:moveTo>
                <a:lnTo>
                  <a:pt x="3246926" y="0"/>
                </a:lnTo>
                <a:lnTo>
                  <a:pt x="3246926" y="1469279"/>
                </a:lnTo>
                <a:lnTo>
                  <a:pt x="0" y="1469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E23C4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754444" y="5143500"/>
            <a:ext cx="3246926" cy="1469279"/>
          </a:xfrm>
          <a:custGeom>
            <a:avLst/>
            <a:gdLst/>
            <a:ahLst/>
            <a:cxnLst/>
            <a:rect r="r" b="b" t="t" l="l"/>
            <a:pathLst>
              <a:path h="1469279" w="3246926">
                <a:moveTo>
                  <a:pt x="0" y="0"/>
                </a:moveTo>
                <a:lnTo>
                  <a:pt x="3246926" y="0"/>
                </a:lnTo>
                <a:lnTo>
                  <a:pt x="3246926" y="1469279"/>
                </a:lnTo>
                <a:lnTo>
                  <a:pt x="0" y="1469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E23C4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410945" y="5143500"/>
            <a:ext cx="3246926" cy="1469279"/>
          </a:xfrm>
          <a:custGeom>
            <a:avLst/>
            <a:gdLst/>
            <a:ahLst/>
            <a:cxnLst/>
            <a:rect r="r" b="b" t="t" l="l"/>
            <a:pathLst>
              <a:path h="1469279" w="3246926">
                <a:moveTo>
                  <a:pt x="0" y="0"/>
                </a:moveTo>
                <a:lnTo>
                  <a:pt x="3246926" y="0"/>
                </a:lnTo>
                <a:lnTo>
                  <a:pt x="3246926" y="1469279"/>
                </a:lnTo>
                <a:lnTo>
                  <a:pt x="0" y="146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E23C4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067446" y="5143500"/>
            <a:ext cx="3246926" cy="1469279"/>
          </a:xfrm>
          <a:custGeom>
            <a:avLst/>
            <a:gdLst/>
            <a:ahLst/>
            <a:cxnLst/>
            <a:rect r="r" b="b" t="t" l="l"/>
            <a:pathLst>
              <a:path h="1469279" w="3246926">
                <a:moveTo>
                  <a:pt x="0" y="0"/>
                </a:moveTo>
                <a:lnTo>
                  <a:pt x="3246926" y="0"/>
                </a:lnTo>
                <a:lnTo>
                  <a:pt x="3246926" y="1469279"/>
                </a:lnTo>
                <a:lnTo>
                  <a:pt x="0" y="1469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BF63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754444" y="7163259"/>
            <a:ext cx="3167084" cy="1433150"/>
          </a:xfrm>
          <a:custGeom>
            <a:avLst/>
            <a:gdLst/>
            <a:ahLst/>
            <a:cxnLst/>
            <a:rect r="r" b="b" t="t" l="l"/>
            <a:pathLst>
              <a:path h="1433150" w="3167084">
                <a:moveTo>
                  <a:pt x="0" y="0"/>
                </a:moveTo>
                <a:lnTo>
                  <a:pt x="3167084" y="0"/>
                </a:lnTo>
                <a:lnTo>
                  <a:pt x="3167084" y="1433150"/>
                </a:lnTo>
                <a:lnTo>
                  <a:pt x="0" y="1433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BF63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102494" y="7127129"/>
            <a:ext cx="3246926" cy="1469279"/>
          </a:xfrm>
          <a:custGeom>
            <a:avLst/>
            <a:gdLst/>
            <a:ahLst/>
            <a:cxnLst/>
            <a:rect r="r" b="b" t="t" l="l"/>
            <a:pathLst>
              <a:path h="1469279" w="3246926">
                <a:moveTo>
                  <a:pt x="0" y="0"/>
                </a:moveTo>
                <a:lnTo>
                  <a:pt x="3246926" y="0"/>
                </a:lnTo>
                <a:lnTo>
                  <a:pt x="3246926" y="1469280"/>
                </a:lnTo>
                <a:lnTo>
                  <a:pt x="0" y="146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00BF63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410945" y="7127129"/>
            <a:ext cx="3246926" cy="1469279"/>
          </a:xfrm>
          <a:custGeom>
            <a:avLst/>
            <a:gdLst/>
            <a:ahLst/>
            <a:cxnLst/>
            <a:rect r="r" b="b" t="t" l="l"/>
            <a:pathLst>
              <a:path h="1469279" w="3246926">
                <a:moveTo>
                  <a:pt x="0" y="0"/>
                </a:moveTo>
                <a:lnTo>
                  <a:pt x="3246926" y="0"/>
                </a:lnTo>
                <a:lnTo>
                  <a:pt x="3246926" y="1469280"/>
                </a:lnTo>
                <a:lnTo>
                  <a:pt x="0" y="1469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38100" cap="sq">
            <a:solidFill>
              <a:srgbClr val="00BF63"/>
            </a:solidFill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Weighting 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067446" y="7127129"/>
            <a:ext cx="3246926" cy="1469279"/>
          </a:xfrm>
          <a:custGeom>
            <a:avLst/>
            <a:gdLst/>
            <a:ahLst/>
            <a:cxnLst/>
            <a:rect r="r" b="b" t="t" l="l"/>
            <a:pathLst>
              <a:path h="1469279" w="3246926">
                <a:moveTo>
                  <a:pt x="0" y="0"/>
                </a:moveTo>
                <a:lnTo>
                  <a:pt x="3246926" y="0"/>
                </a:lnTo>
                <a:lnTo>
                  <a:pt x="3246926" y="1469280"/>
                </a:lnTo>
                <a:lnTo>
                  <a:pt x="0" y="1469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38100" cap="sq">
            <a:solidFill>
              <a:srgbClr val="E23C40"/>
            </a:solidFill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754529" y="6693742"/>
            <a:ext cx="394285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Frame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66557" y="6693742"/>
            <a:ext cx="394285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Frame 100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78586" y="6693742"/>
            <a:ext cx="394285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Frame 200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90614" y="6693742"/>
            <a:ext cx="394285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Frame 300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4529" y="8710709"/>
            <a:ext cx="394285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Frame 400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66557" y="8710709"/>
            <a:ext cx="394285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Frame 500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78586" y="8710709"/>
            <a:ext cx="394285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Frame 600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90614" y="8710709"/>
            <a:ext cx="394285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Frame 660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58567" y="9390062"/>
            <a:ext cx="394285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Climax of the shot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60606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98184" y="2437740"/>
            <a:ext cx="1242308" cy="124230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06">
                <a:alpha val="3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FFFFFF">
                      <a:alpha val="34902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24266" y="2523716"/>
            <a:ext cx="8512438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>
                    <a:alpha val="34902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Method for automatic extraction of a tag-image in a movie shot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4266" y="4888974"/>
            <a:ext cx="8512438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Experimentation and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24266" y="7078455"/>
            <a:ext cx="8512438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 and Perspectives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8184" y="4642073"/>
            <a:ext cx="1242308" cy="124230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0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98184" y="6846406"/>
            <a:ext cx="1242308" cy="124230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0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Evaluation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03397" y="5788660"/>
            <a:ext cx="751677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true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Questionnaire</a:t>
            </a: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 :</a:t>
            </a:r>
          </a:p>
          <a:p>
            <a:pPr algn="l" marL="604523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n image generated by the methods being compared.</a:t>
            </a:r>
          </a:p>
          <a:p>
            <a:pPr algn="l" marL="604523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Random order of presentation.</a:t>
            </a:r>
          </a:p>
          <a:p>
            <a:pPr algn="l" marL="604523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Free selection: 0 to 6 images allowed.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03397" y="3115795"/>
            <a:ext cx="487430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true">
                <a:solidFill>
                  <a:srgbClr val="00BF63"/>
                </a:solidFill>
                <a:latin typeface="Arimo Bold"/>
                <a:ea typeface="Arimo Bold"/>
                <a:cs typeface="Arimo Bold"/>
                <a:sym typeface="Arimo Bold"/>
              </a:rPr>
              <a:t>Dataset</a:t>
            </a: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 : 10 shots without ground truth</a:t>
            </a: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, each taken from a movie.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07230"/>
            <a:ext cx="4874304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E23C40"/>
                </a:solidFill>
                <a:latin typeface="Arimo Bold"/>
                <a:ea typeface="Arimo Bold"/>
                <a:cs typeface="Arimo Bold"/>
                <a:sym typeface="Arimo Bold"/>
              </a:rPr>
              <a:t>Ground truth</a:t>
            </a:r>
            <a:r>
              <a:rPr lang="en-US" sz="29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 :</a:t>
            </a:r>
          </a:p>
          <a:p>
            <a:pPr algn="l" marL="604523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No single common ground truth</a:t>
            </a:r>
          </a:p>
          <a:p>
            <a:pPr algn="l" marL="604523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Each expert defines their own reference standard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788660"/>
            <a:ext cx="5283332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true">
                <a:solidFill>
                  <a:srgbClr val="E23C40"/>
                </a:solidFill>
                <a:latin typeface="Arimo Bold"/>
                <a:ea typeface="Arimo Bold"/>
                <a:cs typeface="Arimo Bold"/>
                <a:sym typeface="Arimo Bold"/>
              </a:rPr>
              <a:t>Comparison metric</a:t>
            </a: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Standard metrics such as PSNR, SSIM, etc., are not relevant in this context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45480" y="1977846"/>
            <a:ext cx="5094338" cy="6792450"/>
          </a:xfrm>
          <a:custGeom>
            <a:avLst/>
            <a:gdLst/>
            <a:ahLst/>
            <a:cxnLst/>
            <a:rect r="r" b="b" t="t" l="l"/>
            <a:pathLst>
              <a:path h="6792450" w="5094338">
                <a:moveTo>
                  <a:pt x="0" y="0"/>
                </a:moveTo>
                <a:lnTo>
                  <a:pt x="5094338" y="0"/>
                </a:lnTo>
                <a:lnTo>
                  <a:pt x="5094338" y="6792451"/>
                </a:lnTo>
                <a:lnTo>
                  <a:pt x="0" y="6792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07959" y="1849915"/>
            <a:ext cx="4780828" cy="7216344"/>
          </a:xfrm>
          <a:custGeom>
            <a:avLst/>
            <a:gdLst/>
            <a:ahLst/>
            <a:cxnLst/>
            <a:rect r="r" b="b" t="t" l="l"/>
            <a:pathLst>
              <a:path h="7216344" w="4780828">
                <a:moveTo>
                  <a:pt x="0" y="0"/>
                </a:moveTo>
                <a:lnTo>
                  <a:pt x="4780827" y="0"/>
                </a:lnTo>
                <a:lnTo>
                  <a:pt x="4780827" y="7216343"/>
                </a:lnTo>
                <a:lnTo>
                  <a:pt x="0" y="7216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6258"/>
            <a:ext cx="13958524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Experimentation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5710" y="9072562"/>
            <a:ext cx="800532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Sample assessment question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37961" y="9047208"/>
            <a:ext cx="800532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Experimental conditions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427"/>
          <a:stretch>
            <a:fillRect/>
          </a:stretch>
        </p:blipFill>
        <p:spPr>
          <a:xfrm flipH="false" flipV="false" rot="0">
            <a:off x="1524000" y="1883291"/>
            <a:ext cx="15240000" cy="652041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Example of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8460" y="9550400"/>
            <a:ext cx="72349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[8]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F. Veber, “Le dı̂ner de cons (the dinner game),” Film, 1998.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90939" y="8472762"/>
            <a:ext cx="930612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Video 2. </a:t>
            </a: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Shot taken from the film “Le dîner de cons” [8].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8035" y="2449551"/>
            <a:ext cx="5529114" cy="2370608"/>
          </a:xfrm>
          <a:custGeom>
            <a:avLst/>
            <a:gdLst/>
            <a:ahLst/>
            <a:cxnLst/>
            <a:rect r="r" b="b" t="t" l="l"/>
            <a:pathLst>
              <a:path h="2370608" w="5529114">
                <a:moveTo>
                  <a:pt x="0" y="0"/>
                </a:moveTo>
                <a:lnTo>
                  <a:pt x="5529114" y="0"/>
                </a:lnTo>
                <a:lnTo>
                  <a:pt x="5529114" y="2370607"/>
                </a:lnTo>
                <a:lnTo>
                  <a:pt x="0" y="2370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79443" y="2449551"/>
            <a:ext cx="5529114" cy="2370608"/>
          </a:xfrm>
          <a:custGeom>
            <a:avLst/>
            <a:gdLst/>
            <a:ahLst/>
            <a:cxnLst/>
            <a:rect r="r" b="b" t="t" l="l"/>
            <a:pathLst>
              <a:path h="2370608" w="5529114">
                <a:moveTo>
                  <a:pt x="0" y="0"/>
                </a:moveTo>
                <a:lnTo>
                  <a:pt x="5529114" y="0"/>
                </a:lnTo>
                <a:lnTo>
                  <a:pt x="5529114" y="2370607"/>
                </a:lnTo>
                <a:lnTo>
                  <a:pt x="0" y="2370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05960" y="2449551"/>
            <a:ext cx="5529114" cy="2370608"/>
          </a:xfrm>
          <a:custGeom>
            <a:avLst/>
            <a:gdLst/>
            <a:ahLst/>
            <a:cxnLst/>
            <a:rect r="r" b="b" t="t" l="l"/>
            <a:pathLst>
              <a:path h="2370608" w="5529114">
                <a:moveTo>
                  <a:pt x="0" y="0"/>
                </a:moveTo>
                <a:lnTo>
                  <a:pt x="5529114" y="0"/>
                </a:lnTo>
                <a:lnTo>
                  <a:pt x="5529114" y="2370607"/>
                </a:lnTo>
                <a:lnTo>
                  <a:pt x="0" y="2370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88739" y="5363265"/>
            <a:ext cx="5529114" cy="2370608"/>
          </a:xfrm>
          <a:custGeom>
            <a:avLst/>
            <a:gdLst/>
            <a:ahLst/>
            <a:cxnLst/>
            <a:rect r="r" b="b" t="t" l="l"/>
            <a:pathLst>
              <a:path h="2370608" w="5529114">
                <a:moveTo>
                  <a:pt x="0" y="0"/>
                </a:moveTo>
                <a:lnTo>
                  <a:pt x="5529114" y="0"/>
                </a:lnTo>
                <a:lnTo>
                  <a:pt x="5529114" y="2370607"/>
                </a:lnTo>
                <a:lnTo>
                  <a:pt x="0" y="2370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70147" y="5363265"/>
            <a:ext cx="5529114" cy="2370608"/>
          </a:xfrm>
          <a:custGeom>
            <a:avLst/>
            <a:gdLst/>
            <a:ahLst/>
            <a:cxnLst/>
            <a:rect r="r" b="b" t="t" l="l"/>
            <a:pathLst>
              <a:path h="2370608" w="5529114">
                <a:moveTo>
                  <a:pt x="0" y="0"/>
                </a:moveTo>
                <a:lnTo>
                  <a:pt x="5529114" y="0"/>
                </a:lnTo>
                <a:lnTo>
                  <a:pt x="5529114" y="2370607"/>
                </a:lnTo>
                <a:lnTo>
                  <a:pt x="0" y="23706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483739" y="7781103"/>
            <a:ext cx="330193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Our method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12470" y="4791583"/>
            <a:ext cx="391609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Pei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95249" y="7781103"/>
            <a:ext cx="391609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Zhang </a:t>
            </a:r>
            <a:r>
              <a:rPr lang="en-US" sz="3200" i="true">
                <a:solidFill>
                  <a:srgbClr val="060606"/>
                </a:solidFill>
                <a:latin typeface="Arimo Italics"/>
                <a:ea typeface="Arimo Italics"/>
                <a:cs typeface="Arimo Italics"/>
                <a:sym typeface="Arimo Italics"/>
              </a:rPr>
              <a:t>et 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85953" y="4791583"/>
            <a:ext cx="391609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Chen </a:t>
            </a:r>
            <a:r>
              <a:rPr lang="en-US" sz="3200" i="true">
                <a:solidFill>
                  <a:srgbClr val="060606"/>
                </a:solidFill>
                <a:latin typeface="Arimo Italics"/>
                <a:ea typeface="Arimo Italics"/>
                <a:cs typeface="Arimo Italics"/>
                <a:sym typeface="Arimo Italics"/>
              </a:rPr>
              <a:t>et 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7782" y="4791583"/>
            <a:ext cx="394285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Middle frame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Example of 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8460" y="9550400"/>
            <a:ext cx="72349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[8]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F. Veber, “Le dı̂ner de cons (the dinner game),” Film, 1998.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40113" y="8333735"/>
            <a:ext cx="900777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Comparison of results obtained for the shot taken from the film “Le dîner de cons” [6].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23771"/>
            <a:ext cx="746829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10 shots * 16 experts = 160 evaluations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6258"/>
            <a:ext cx="13958524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Results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6979" y="3625971"/>
            <a:ext cx="8005324" cy="5436477"/>
            <a:chOff x="0" y="0"/>
            <a:chExt cx="10673766" cy="724863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785086"/>
              <a:ext cx="10673766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060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Table 1. </a:t>
              </a:r>
              <a:r>
                <a:rPr lang="en-US" sz="2200">
                  <a:solidFill>
                    <a:srgbClr val="060606"/>
                  </a:solidFill>
                  <a:latin typeface="Arimo"/>
                  <a:ea typeface="Arimo"/>
                  <a:cs typeface="Arimo"/>
                  <a:sym typeface="Arimo"/>
                </a:rPr>
                <a:t>Selection rate based on the evaluation of 16 experts.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466851" y="0"/>
          <a:ext cx="4563280" cy="5016848"/>
        </p:xfrm>
        <a:graphic>
          <a:graphicData uri="http://schemas.openxmlformats.org/drawingml/2006/table">
            <a:tbl>
              <a:tblPr/>
              <a:tblGrid>
                <a:gridCol w="2239696"/>
                <a:gridCol w="2323584"/>
              </a:tblGrid>
              <a:tr h="8361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Selection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61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Middle frame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0.381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61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61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Zhang et 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0.238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61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Chen et 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u="sng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0.388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61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Our 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0.513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9877542" y="3606031"/>
            <a:ext cx="8005324" cy="5456417"/>
            <a:chOff x="0" y="0"/>
            <a:chExt cx="10673766" cy="727522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811672"/>
              <a:ext cx="10673766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060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Table 2. </a:t>
              </a:r>
              <a:r>
                <a:rPr lang="en-US" sz="2200">
                  <a:solidFill>
                    <a:srgbClr val="060606"/>
                  </a:solidFill>
                  <a:latin typeface="Arimo"/>
                  <a:ea typeface="Arimo"/>
                  <a:cs typeface="Arimo"/>
                  <a:sym typeface="Arimo"/>
                </a:rPr>
                <a:t>Ranking for the Top 1, Top 2 and Top 3.</a:t>
              </a:r>
            </a:p>
          </p:txBody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0" y="0"/>
          <a:ext cx="5959550" cy="4947766"/>
        </p:xfrm>
        <a:graphic>
          <a:graphicData uri="http://schemas.openxmlformats.org/drawingml/2006/table">
            <a:tbl>
              <a:tblPr/>
              <a:tblGrid>
                <a:gridCol w="2509307"/>
                <a:gridCol w="1150081"/>
                <a:gridCol w="1150081"/>
                <a:gridCol w="1150081"/>
              </a:tblGrid>
              <a:tr h="8361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Top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Top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Top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Middle frame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u="sng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80%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Zhang et 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Chen et 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u="sng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u="sng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u="sng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Our 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u="sng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60606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98184" y="2437740"/>
            <a:ext cx="1242308" cy="124230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06">
                <a:alpha val="3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FFFFFF">
                      <a:alpha val="34902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24266" y="2523716"/>
            <a:ext cx="8512438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>
                    <a:alpha val="34902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Method for automatic extraction of a tag-image in a movie shot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4266" y="4888974"/>
            <a:ext cx="8512438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>
                    <a:alpha val="34902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Experimentation and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24266" y="7078455"/>
            <a:ext cx="8512438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 and Perspectives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98184" y="4642073"/>
            <a:ext cx="1242308" cy="124230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06">
                <a:alpha val="3490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FFFFFF">
                      <a:alpha val="34902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98184" y="6846406"/>
            <a:ext cx="1242308" cy="124230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60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</a:pPr>
              <a:r>
                <a:rPr lang="en-US" sz="4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6258"/>
            <a:ext cx="14340409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Conclusion / Perspectives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05203" y="2066925"/>
            <a:ext cx="15278907" cy="307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Strengths</a:t>
            </a:r>
            <a:r>
              <a:rPr lang="en-US" sz="2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</a:p>
          <a:p>
            <a:pPr algn="l">
              <a:lnSpc>
                <a:spcPts val="3480"/>
              </a:lnSpc>
            </a:pPr>
          </a:p>
          <a:p>
            <a:pPr algn="l" marL="626112" indent="-313056" lvl="1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Method specifically designed for cinema-related challenges</a:t>
            </a:r>
          </a:p>
          <a:p>
            <a:pPr algn="l">
              <a:lnSpc>
                <a:spcPts val="3480"/>
              </a:lnSpc>
            </a:pPr>
          </a:p>
          <a:p>
            <a:pPr algn="l" marL="626112" indent="-313056" lvl="1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Evolvable and adaptable pipeline</a:t>
            </a:r>
          </a:p>
          <a:p>
            <a:pPr algn="l">
              <a:lnSpc>
                <a:spcPts val="3480"/>
              </a:lnSpc>
            </a:pPr>
          </a:p>
          <a:p>
            <a:pPr algn="l" marL="626112" indent="-313056" lvl="1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Relevant evaluation protocol for the targeted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5203" y="5965198"/>
            <a:ext cx="13435960" cy="307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Future</a:t>
            </a:r>
            <a:r>
              <a:rPr lang="en-US" sz="2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</a:p>
          <a:p>
            <a:pPr algn="l">
              <a:lnSpc>
                <a:spcPts val="3480"/>
              </a:lnSpc>
            </a:pPr>
          </a:p>
          <a:p>
            <a:pPr algn="l" marL="626112" indent="-313056" lvl="1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Extend the pipeline with richer visual or temporal features</a:t>
            </a:r>
          </a:p>
          <a:p>
            <a:pPr algn="l">
              <a:lnSpc>
                <a:spcPts val="3480"/>
              </a:lnSpc>
            </a:pPr>
          </a:p>
          <a:p>
            <a:pPr algn="l" marL="626112" indent="-313056" lvl="1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Generate one tag-image per scene rather than per shot</a:t>
            </a:r>
          </a:p>
          <a:p>
            <a:pPr algn="l">
              <a:lnSpc>
                <a:spcPts val="3480"/>
              </a:lnSpc>
            </a:pPr>
          </a:p>
          <a:p>
            <a:pPr algn="l" marL="626112" indent="-313056" lvl="1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Detect content variations within a shot to adjust the number of tag images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64738" y="3644366"/>
            <a:ext cx="13958524" cy="243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4"/>
              </a:lnSpc>
            </a:pPr>
            <a:r>
              <a:rPr lang="en-US" sz="8604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 for your attention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6258"/>
            <a:ext cx="14340409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6816" y="2623146"/>
            <a:ext cx="1567003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[3]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Widiarto, W., Yuniarno, E. M., &amp; Hariadi, M. (2015).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Video summarization using a key frame selection based on shot segmentation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6816" y="3104633"/>
            <a:ext cx="130891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[4]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Pei, X. (2021).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The key frame extraction algorithm based on the indigenous disturbance variation difference video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6816" y="3579424"/>
            <a:ext cx="1643873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[5]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Zhang, Y., Zhang, J., Liu, R., Zhu, P., &amp; Liu, Y. (2022).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Key frame extraction based on quaternion Fourier transform with multiple features fusion.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6816" y="4054087"/>
            <a:ext cx="1699446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[6]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Chen, M., Han, X., Zhang, H., Lin, G., &amp; Kamruzzaman, M. (2019).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Quality-guided key frames selection from video stream based on object detection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6816" y="4565262"/>
            <a:ext cx="496446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[7]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A. Mann, “Man of the west,” Film, 1958.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6816" y="5051037"/>
            <a:ext cx="72349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[8]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F. Veber, “Le dı̂ner de cons (the dinner game),” Film, 1998.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6816" y="1676996"/>
            <a:ext cx="1784804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[1] Soucek, T., &amp; Lokoc, J. (2024).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TransNet V2: An Effective Deep Network Architecture for Fast Shot Transition Detection.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6816" y="2150071"/>
            <a:ext cx="1498678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[2] Chasanis, V., L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ikas, A., &amp; Galatsanos, N. (2008). </a:t>
            </a:r>
            <a:r>
              <a:rPr lang="en-US" sz="2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Scene detection in videos using shot clustering and sequence alignment.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64738" y="3644366"/>
            <a:ext cx="13958524" cy="243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4"/>
              </a:lnSpc>
            </a:pPr>
            <a:r>
              <a:rPr lang="en-US" sz="8604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Supplementary materials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2414" y="4621257"/>
            <a:ext cx="9967876" cy="2230312"/>
          </a:xfrm>
          <a:custGeom>
            <a:avLst/>
            <a:gdLst/>
            <a:ahLst/>
            <a:cxnLst/>
            <a:rect r="r" b="b" t="t" l="l"/>
            <a:pathLst>
              <a:path h="2230312" w="9967876">
                <a:moveTo>
                  <a:pt x="0" y="0"/>
                </a:moveTo>
                <a:lnTo>
                  <a:pt x="9967876" y="0"/>
                </a:lnTo>
                <a:lnTo>
                  <a:pt x="9967876" y="2230312"/>
                </a:lnTo>
                <a:lnTo>
                  <a:pt x="0" y="2230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04053" y="6851569"/>
            <a:ext cx="3782198" cy="2907565"/>
          </a:xfrm>
          <a:custGeom>
            <a:avLst/>
            <a:gdLst/>
            <a:ahLst/>
            <a:cxnLst/>
            <a:rect r="r" b="b" t="t" l="l"/>
            <a:pathLst>
              <a:path h="2907565" w="3782198">
                <a:moveTo>
                  <a:pt x="0" y="0"/>
                </a:moveTo>
                <a:lnTo>
                  <a:pt x="3782198" y="0"/>
                </a:lnTo>
                <a:lnTo>
                  <a:pt x="3782198" y="2907565"/>
                </a:lnTo>
                <a:lnTo>
                  <a:pt x="0" y="2907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60922" y="1563586"/>
            <a:ext cx="4288658" cy="3162885"/>
          </a:xfrm>
          <a:custGeom>
            <a:avLst/>
            <a:gdLst/>
            <a:ahLst/>
            <a:cxnLst/>
            <a:rect r="r" b="b" t="t" l="l"/>
            <a:pathLst>
              <a:path h="3162885" w="4288658">
                <a:moveTo>
                  <a:pt x="0" y="0"/>
                </a:moveTo>
                <a:lnTo>
                  <a:pt x="4288657" y="0"/>
                </a:lnTo>
                <a:lnTo>
                  <a:pt x="4288657" y="3162885"/>
                </a:lnTo>
                <a:lnTo>
                  <a:pt x="0" y="3162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Our 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740642"/>
            <a:ext cx="41331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Variance Du Laplacien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07418" y="2278107"/>
            <a:ext cx="503735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Faster R-CNN Resnet50 FPN</a:t>
            </a:r>
          </a:p>
        </p:txBody>
      </p:sp>
      <p:sp>
        <p:nvSpPr>
          <p:cNvPr name="AutoShape 9" id="9"/>
          <p:cNvSpPr/>
          <p:nvPr/>
        </p:nvSpPr>
        <p:spPr>
          <a:xfrm flipH="true" flipV="true">
            <a:off x="4426096" y="2716257"/>
            <a:ext cx="859770" cy="1905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" id="10"/>
          <p:cNvSpPr/>
          <p:nvPr/>
        </p:nvSpPr>
        <p:spPr>
          <a:xfrm flipV="true">
            <a:off x="7276091" y="3145028"/>
            <a:ext cx="4084831" cy="15437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" id="11"/>
          <p:cNvSpPr/>
          <p:nvPr/>
        </p:nvSpPr>
        <p:spPr>
          <a:xfrm>
            <a:off x="9445325" y="6990993"/>
            <a:ext cx="2903372" cy="13143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 flipH="true">
            <a:off x="2967415" y="6990993"/>
            <a:ext cx="1086515" cy="17687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24625" y="5377559"/>
            <a:ext cx="5238750" cy="2856383"/>
            <a:chOff x="0" y="0"/>
            <a:chExt cx="6985000" cy="38085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0" cy="3160810"/>
            </a:xfrm>
            <a:custGeom>
              <a:avLst/>
              <a:gdLst/>
              <a:ahLst/>
              <a:cxnLst/>
              <a:rect r="r" b="b" t="t" l="l"/>
              <a:pathLst>
                <a:path h="316081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3160810"/>
                  </a:lnTo>
                  <a:lnTo>
                    <a:pt x="0" y="316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291213" y="3132235"/>
              <a:ext cx="4402574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60606"/>
                  </a:solidFill>
                  <a:latin typeface="Arimo"/>
                  <a:ea typeface="Arimo"/>
                  <a:cs typeface="Arimo"/>
                  <a:sym typeface="Arimo"/>
                </a:rPr>
                <a:t>Our method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3217" y="2449551"/>
            <a:ext cx="5238750" cy="2856383"/>
            <a:chOff x="0" y="0"/>
            <a:chExt cx="6985000" cy="38085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0" cy="3160810"/>
            </a:xfrm>
            <a:custGeom>
              <a:avLst/>
              <a:gdLst/>
              <a:ahLst/>
              <a:cxnLst/>
              <a:rect r="r" b="b" t="t" l="l"/>
              <a:pathLst>
                <a:path h="316081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3160810"/>
                  </a:lnTo>
                  <a:lnTo>
                    <a:pt x="0" y="316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881771" y="3132235"/>
              <a:ext cx="5221459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60606"/>
                  </a:solidFill>
                  <a:latin typeface="Arimo"/>
                  <a:ea typeface="Arimo"/>
                  <a:cs typeface="Arimo"/>
                  <a:sym typeface="Arimo"/>
                </a:rPr>
                <a:t>Middle frame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51142" y="2449551"/>
            <a:ext cx="5238750" cy="2856383"/>
            <a:chOff x="0" y="0"/>
            <a:chExt cx="6985000" cy="38085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0" cy="3160810"/>
            </a:xfrm>
            <a:custGeom>
              <a:avLst/>
              <a:gdLst/>
              <a:ahLst/>
              <a:cxnLst/>
              <a:rect r="r" b="b" t="t" l="l"/>
              <a:pathLst>
                <a:path h="316081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3160810"/>
                  </a:lnTo>
                  <a:lnTo>
                    <a:pt x="0" y="316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881771" y="3132235"/>
              <a:ext cx="5221459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60606"/>
                  </a:solidFill>
                  <a:latin typeface="Arimo"/>
                  <a:ea typeface="Arimo"/>
                  <a:cs typeface="Arimo"/>
                  <a:sym typeface="Arimo"/>
                </a:rPr>
                <a:t>Pei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24625" y="2449551"/>
            <a:ext cx="5238750" cy="2856383"/>
            <a:chOff x="0" y="0"/>
            <a:chExt cx="6985000" cy="3808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000" cy="3160810"/>
            </a:xfrm>
            <a:custGeom>
              <a:avLst/>
              <a:gdLst/>
              <a:ahLst/>
              <a:cxnLst/>
              <a:rect r="r" b="b" t="t" l="l"/>
              <a:pathLst>
                <a:path h="316081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3160810"/>
                  </a:lnTo>
                  <a:lnTo>
                    <a:pt x="0" y="316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881771" y="3132235"/>
              <a:ext cx="5221459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60606"/>
                  </a:solidFill>
                  <a:latin typeface="Arimo"/>
                  <a:ea typeface="Arimo"/>
                  <a:cs typeface="Arimo"/>
                  <a:sym typeface="Arimo"/>
                </a:rPr>
                <a:t>Chen </a:t>
              </a:r>
              <a:r>
                <a:rPr lang="en-US" sz="3200" i="true">
                  <a:solidFill>
                    <a:srgbClr val="060606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et al.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3217" y="5377559"/>
            <a:ext cx="5238750" cy="2856383"/>
            <a:chOff x="0" y="0"/>
            <a:chExt cx="6985000" cy="38085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0" cy="3160810"/>
            </a:xfrm>
            <a:custGeom>
              <a:avLst/>
              <a:gdLst/>
              <a:ahLst/>
              <a:cxnLst/>
              <a:rect r="r" b="b" t="t" l="l"/>
              <a:pathLst>
                <a:path h="316081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3160810"/>
                  </a:lnTo>
                  <a:lnTo>
                    <a:pt x="0" y="316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881771" y="3132235"/>
              <a:ext cx="5221459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60606"/>
                  </a:solidFill>
                  <a:latin typeface="Arimo"/>
                  <a:ea typeface="Arimo"/>
                  <a:cs typeface="Arimo"/>
                  <a:sym typeface="Arimo"/>
                </a:rPr>
                <a:t>Zhang </a:t>
              </a:r>
              <a:r>
                <a:rPr lang="en-US" sz="3200" i="true">
                  <a:solidFill>
                    <a:srgbClr val="060606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et al.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551142" y="5377559"/>
            <a:ext cx="5238750" cy="2894846"/>
            <a:chOff x="0" y="0"/>
            <a:chExt cx="6985000" cy="38597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85000" cy="3160810"/>
            </a:xfrm>
            <a:custGeom>
              <a:avLst/>
              <a:gdLst/>
              <a:ahLst/>
              <a:cxnLst/>
              <a:rect r="r" b="b" t="t" l="l"/>
              <a:pathLst>
                <a:path h="316081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3160810"/>
                  </a:lnTo>
                  <a:lnTo>
                    <a:pt x="0" y="316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881771" y="3183520"/>
              <a:ext cx="5221459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60606"/>
                  </a:solidFill>
                  <a:latin typeface="Arimo"/>
                  <a:ea typeface="Arimo"/>
                  <a:cs typeface="Arimo"/>
                  <a:sym typeface="Arimo"/>
                </a:rPr>
                <a:t>Ground Truth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336258"/>
            <a:ext cx="156980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Example of results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3704" y="9550400"/>
            <a:ext cx="496446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[7]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A. Mann, “Man of the west,” Film, 1958.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90939" y="8329555"/>
            <a:ext cx="930612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Figure 3. </a:t>
            </a:r>
            <a:r>
              <a:rPr lang="en-US" sz="22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Comparison of results obtained for the shot taken from the film “Man of the West” [7].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0692" y="2415882"/>
            <a:ext cx="5576326" cy="2369939"/>
          </a:xfrm>
          <a:custGeom>
            <a:avLst/>
            <a:gdLst/>
            <a:ahLst/>
            <a:cxnLst/>
            <a:rect r="r" b="b" t="t" l="l"/>
            <a:pathLst>
              <a:path h="2369939" w="5576326">
                <a:moveTo>
                  <a:pt x="0" y="0"/>
                </a:moveTo>
                <a:lnTo>
                  <a:pt x="5576327" y="0"/>
                </a:lnTo>
                <a:lnTo>
                  <a:pt x="5576327" y="2369938"/>
                </a:lnTo>
                <a:lnTo>
                  <a:pt x="0" y="2369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67019" y="2141271"/>
            <a:ext cx="3181412" cy="2644549"/>
          </a:xfrm>
          <a:custGeom>
            <a:avLst/>
            <a:gdLst/>
            <a:ahLst/>
            <a:cxnLst/>
            <a:rect r="r" b="b" t="t" l="l"/>
            <a:pathLst>
              <a:path h="2644549" w="3181412">
                <a:moveTo>
                  <a:pt x="0" y="0"/>
                </a:moveTo>
                <a:lnTo>
                  <a:pt x="3181412" y="0"/>
                </a:lnTo>
                <a:lnTo>
                  <a:pt x="3181412" y="2644549"/>
                </a:lnTo>
                <a:lnTo>
                  <a:pt x="0" y="2644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21057" y="4785820"/>
            <a:ext cx="4660337" cy="2614967"/>
          </a:xfrm>
          <a:custGeom>
            <a:avLst/>
            <a:gdLst/>
            <a:ahLst/>
            <a:cxnLst/>
            <a:rect r="r" b="b" t="t" l="l"/>
            <a:pathLst>
              <a:path h="2614967" w="4660337">
                <a:moveTo>
                  <a:pt x="0" y="0"/>
                </a:moveTo>
                <a:lnTo>
                  <a:pt x="4660337" y="0"/>
                </a:lnTo>
                <a:lnTo>
                  <a:pt x="4660337" y="2614967"/>
                </a:lnTo>
                <a:lnTo>
                  <a:pt x="0" y="26149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81394" y="4785820"/>
            <a:ext cx="4251683" cy="1822909"/>
          </a:xfrm>
          <a:custGeom>
            <a:avLst/>
            <a:gdLst/>
            <a:ahLst/>
            <a:cxnLst/>
            <a:rect r="r" b="b" t="t" l="l"/>
            <a:pathLst>
              <a:path h="1822909" w="4251683">
                <a:moveTo>
                  <a:pt x="0" y="0"/>
                </a:moveTo>
                <a:lnTo>
                  <a:pt x="4251683" y="0"/>
                </a:lnTo>
                <a:lnTo>
                  <a:pt x="4251683" y="1822909"/>
                </a:lnTo>
                <a:lnTo>
                  <a:pt x="0" y="18229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82655" y="7181523"/>
            <a:ext cx="4552993" cy="2561058"/>
          </a:xfrm>
          <a:custGeom>
            <a:avLst/>
            <a:gdLst/>
            <a:ahLst/>
            <a:cxnLst/>
            <a:rect r="r" b="b" t="t" l="l"/>
            <a:pathLst>
              <a:path h="2561058" w="4552993">
                <a:moveTo>
                  <a:pt x="0" y="0"/>
                </a:moveTo>
                <a:lnTo>
                  <a:pt x="4552993" y="0"/>
                </a:lnTo>
                <a:lnTo>
                  <a:pt x="4552993" y="2561058"/>
                </a:lnTo>
                <a:lnTo>
                  <a:pt x="0" y="25610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21057" y="7400787"/>
            <a:ext cx="4660337" cy="1951516"/>
          </a:xfrm>
          <a:custGeom>
            <a:avLst/>
            <a:gdLst/>
            <a:ahLst/>
            <a:cxnLst/>
            <a:rect r="r" b="b" t="t" l="l"/>
            <a:pathLst>
              <a:path h="1951516" w="4660337">
                <a:moveTo>
                  <a:pt x="0" y="0"/>
                </a:moveTo>
                <a:lnTo>
                  <a:pt x="4660337" y="0"/>
                </a:lnTo>
                <a:lnTo>
                  <a:pt x="4660337" y="1951516"/>
                </a:lnTo>
                <a:lnTo>
                  <a:pt x="0" y="19515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762849" y="4778073"/>
            <a:ext cx="4272799" cy="2403450"/>
          </a:xfrm>
          <a:custGeom>
            <a:avLst/>
            <a:gdLst/>
            <a:ahLst/>
            <a:cxnLst/>
            <a:rect r="r" b="b" t="t" l="l"/>
            <a:pathLst>
              <a:path h="2403450" w="4272799">
                <a:moveTo>
                  <a:pt x="0" y="0"/>
                </a:moveTo>
                <a:lnTo>
                  <a:pt x="4272799" y="0"/>
                </a:lnTo>
                <a:lnTo>
                  <a:pt x="4272799" y="2403450"/>
                </a:lnTo>
                <a:lnTo>
                  <a:pt x="0" y="2403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81394" y="6608729"/>
            <a:ext cx="4019903" cy="2261195"/>
          </a:xfrm>
          <a:custGeom>
            <a:avLst/>
            <a:gdLst/>
            <a:ahLst/>
            <a:cxnLst/>
            <a:rect r="r" b="b" t="t" l="l"/>
            <a:pathLst>
              <a:path h="2261195" w="4019903">
                <a:moveTo>
                  <a:pt x="0" y="0"/>
                </a:moveTo>
                <a:lnTo>
                  <a:pt x="4019902" y="0"/>
                </a:lnTo>
                <a:lnTo>
                  <a:pt x="4019902" y="2261196"/>
                </a:lnTo>
                <a:lnTo>
                  <a:pt x="0" y="22611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22578"/>
            <a:ext cx="7468298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Dataset of </a:t>
            </a: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105 film</a:t>
            </a: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 shot</a:t>
            </a: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 with </a:t>
            </a: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unique </a:t>
            </a: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annotations</a:t>
            </a: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  <a:p>
            <a:pPr algn="l" marL="604523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Variation in content</a:t>
            </a:r>
          </a:p>
          <a:p>
            <a:pPr algn="l" marL="604523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Black-and-white and color films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36258"/>
            <a:ext cx="13958524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Experimentation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51705" y="8340974"/>
            <a:ext cx="3069869" cy="1389159"/>
          </a:xfrm>
          <a:custGeom>
            <a:avLst/>
            <a:gdLst/>
            <a:ahLst/>
            <a:cxnLst/>
            <a:rect r="r" b="b" t="t" l="l"/>
            <a:pathLst>
              <a:path h="1389159" w="3069869">
                <a:moveTo>
                  <a:pt x="0" y="0"/>
                </a:moveTo>
                <a:lnTo>
                  <a:pt x="3069869" y="0"/>
                </a:lnTo>
                <a:lnTo>
                  <a:pt x="3069869" y="1389158"/>
                </a:lnTo>
                <a:lnTo>
                  <a:pt x="0" y="1389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51705" y="2135213"/>
            <a:ext cx="3069869" cy="1389159"/>
          </a:xfrm>
          <a:custGeom>
            <a:avLst/>
            <a:gdLst/>
            <a:ahLst/>
            <a:cxnLst/>
            <a:rect r="r" b="b" t="t" l="l"/>
            <a:pathLst>
              <a:path h="1389159" w="3069869">
                <a:moveTo>
                  <a:pt x="0" y="0"/>
                </a:moveTo>
                <a:lnTo>
                  <a:pt x="3069869" y="0"/>
                </a:lnTo>
                <a:lnTo>
                  <a:pt x="3069869" y="1389159"/>
                </a:lnTo>
                <a:lnTo>
                  <a:pt x="0" y="1389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51705" y="3683249"/>
            <a:ext cx="3069869" cy="1389159"/>
          </a:xfrm>
          <a:custGeom>
            <a:avLst/>
            <a:gdLst/>
            <a:ahLst/>
            <a:cxnLst/>
            <a:rect r="r" b="b" t="t" l="l"/>
            <a:pathLst>
              <a:path h="1389159" w="3069869">
                <a:moveTo>
                  <a:pt x="0" y="0"/>
                </a:moveTo>
                <a:lnTo>
                  <a:pt x="3069869" y="0"/>
                </a:lnTo>
                <a:lnTo>
                  <a:pt x="3069869" y="1389158"/>
                </a:lnTo>
                <a:lnTo>
                  <a:pt x="0" y="1389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51705" y="5235824"/>
            <a:ext cx="3069869" cy="1389159"/>
          </a:xfrm>
          <a:custGeom>
            <a:avLst/>
            <a:gdLst/>
            <a:ahLst/>
            <a:cxnLst/>
            <a:rect r="r" b="b" t="t" l="l"/>
            <a:pathLst>
              <a:path h="1389159" w="3069869">
                <a:moveTo>
                  <a:pt x="0" y="0"/>
                </a:moveTo>
                <a:lnTo>
                  <a:pt x="3069869" y="0"/>
                </a:lnTo>
                <a:lnTo>
                  <a:pt x="3069869" y="1389158"/>
                </a:lnTo>
                <a:lnTo>
                  <a:pt x="0" y="1389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51705" y="6788399"/>
            <a:ext cx="3069869" cy="1389159"/>
          </a:xfrm>
          <a:custGeom>
            <a:avLst/>
            <a:gdLst/>
            <a:ahLst/>
            <a:cxnLst/>
            <a:rect r="r" b="b" t="t" l="l"/>
            <a:pathLst>
              <a:path h="1389159" w="3069869">
                <a:moveTo>
                  <a:pt x="0" y="0"/>
                </a:moveTo>
                <a:lnTo>
                  <a:pt x="3069869" y="0"/>
                </a:lnTo>
                <a:lnTo>
                  <a:pt x="3069869" y="1389158"/>
                </a:lnTo>
                <a:lnTo>
                  <a:pt x="0" y="138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89434" y="2491622"/>
            <a:ext cx="3069869" cy="1389159"/>
          </a:xfrm>
          <a:custGeom>
            <a:avLst/>
            <a:gdLst/>
            <a:ahLst/>
            <a:cxnLst/>
            <a:rect r="r" b="b" t="t" l="l"/>
            <a:pathLst>
              <a:path h="1389159" w="3069869">
                <a:moveTo>
                  <a:pt x="0" y="0"/>
                </a:moveTo>
                <a:lnTo>
                  <a:pt x="3069870" y="0"/>
                </a:lnTo>
                <a:lnTo>
                  <a:pt x="3069870" y="1389159"/>
                </a:lnTo>
                <a:lnTo>
                  <a:pt x="0" y="1389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875533" y="5312263"/>
            <a:ext cx="4917519" cy="1236279"/>
            <a:chOff x="0" y="0"/>
            <a:chExt cx="1295149" cy="3256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5149" cy="325604"/>
            </a:xfrm>
            <a:custGeom>
              <a:avLst/>
              <a:gdLst/>
              <a:ahLst/>
              <a:cxnLst/>
              <a:rect r="r" b="b" t="t" l="l"/>
              <a:pathLst>
                <a:path h="325604" w="1295149">
                  <a:moveTo>
                    <a:pt x="1091949" y="0"/>
                  </a:moveTo>
                  <a:cubicBezTo>
                    <a:pt x="1204173" y="0"/>
                    <a:pt x="1295149" y="72889"/>
                    <a:pt x="1295149" y="162802"/>
                  </a:cubicBezTo>
                  <a:cubicBezTo>
                    <a:pt x="1295149" y="252715"/>
                    <a:pt x="1204173" y="325604"/>
                    <a:pt x="1091949" y="325604"/>
                  </a:cubicBezTo>
                  <a:lnTo>
                    <a:pt x="203200" y="325604"/>
                  </a:lnTo>
                  <a:cubicBezTo>
                    <a:pt x="90976" y="325604"/>
                    <a:pt x="0" y="252715"/>
                    <a:pt x="0" y="162802"/>
                  </a:cubicBezTo>
                  <a:cubicBezTo>
                    <a:pt x="0" y="7288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75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95149" cy="373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007962" y="5701803"/>
            <a:ext cx="483281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true">
                <a:solidFill>
                  <a:srgbClr val="060606"/>
                </a:solidFill>
                <a:latin typeface="Arimo Bold"/>
                <a:ea typeface="Arimo Bold"/>
                <a:cs typeface="Arimo Bold"/>
                <a:sym typeface="Arimo Bold"/>
              </a:rPr>
              <a:t>Distance de Bhattacharyya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421574" y="2829793"/>
            <a:ext cx="1586387" cy="27246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>
            <a:off x="6421574" y="4377828"/>
            <a:ext cx="1406239" cy="13430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>
            <a:off x="6421574" y="5930403"/>
            <a:ext cx="14062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flipV="true">
            <a:off x="6421574" y="6139953"/>
            <a:ext cx="1406239" cy="13430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 flipV="true">
            <a:off x="6421574" y="6299038"/>
            <a:ext cx="1586387" cy="27365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 flipH="true">
            <a:off x="10424369" y="3880781"/>
            <a:ext cx="0" cy="13296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14245725" y="2601193"/>
            <a:ext cx="167794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0.245778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45725" y="7254378"/>
            <a:ext cx="158046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0.337157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45725" y="8597403"/>
            <a:ext cx="158046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0.032974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43196" y="4149228"/>
            <a:ext cx="148299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0.265063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12702067" y="2829793"/>
            <a:ext cx="1543658" cy="27246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V="true">
            <a:off x="12840776" y="4377828"/>
            <a:ext cx="1502420" cy="13430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>
            <a:off x="12840776" y="5930403"/>
            <a:ext cx="14049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>
            <a:off x="12840776" y="6193689"/>
            <a:ext cx="1404949" cy="12892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12702067" y="6299038"/>
            <a:ext cx="1543658" cy="25269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2586" y="8806953"/>
            <a:ext cx="193490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Our method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2638" y="2601193"/>
            <a:ext cx="229480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Middle frame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2638" y="4149228"/>
            <a:ext cx="229480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Pei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2638" y="7254378"/>
            <a:ext cx="229480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Chen </a:t>
            </a:r>
            <a:r>
              <a:rPr lang="en-US" sz="2800" i="true">
                <a:solidFill>
                  <a:srgbClr val="060606"/>
                </a:solidFill>
                <a:latin typeface="Arimo Italics"/>
                <a:ea typeface="Arimo Italics"/>
                <a:cs typeface="Arimo Italics"/>
                <a:sym typeface="Arimo Italics"/>
              </a:rPr>
              <a:t>et al.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2612" y="5701803"/>
            <a:ext cx="229480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Zhang </a:t>
            </a:r>
            <a:r>
              <a:rPr lang="en-US" sz="2800" i="true">
                <a:solidFill>
                  <a:srgbClr val="060606"/>
                </a:solidFill>
                <a:latin typeface="Arimo Italics"/>
                <a:ea typeface="Arimo Italics"/>
                <a:cs typeface="Arimo Italics"/>
                <a:sym typeface="Arimo Italics"/>
              </a:rPr>
              <a:t>et al.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245725" y="5701803"/>
            <a:ext cx="158046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0.265063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76968" y="1906613"/>
            <a:ext cx="229480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060606"/>
                </a:solidFill>
                <a:latin typeface="Arimo"/>
                <a:ea typeface="Arimo"/>
                <a:cs typeface="Arimo"/>
                <a:sym typeface="Arimo"/>
              </a:rPr>
              <a:t>Véritée terrain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336258"/>
            <a:ext cx="13958524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Experimentation 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982426"/>
            <a:ext cx="11301259" cy="4774782"/>
          </a:xfrm>
          <a:custGeom>
            <a:avLst/>
            <a:gdLst/>
            <a:ahLst/>
            <a:cxnLst/>
            <a:rect r="r" b="b" t="t" l="l"/>
            <a:pathLst>
              <a:path h="4774782" w="11301259">
                <a:moveTo>
                  <a:pt x="0" y="0"/>
                </a:moveTo>
                <a:lnTo>
                  <a:pt x="11301258" y="0"/>
                </a:lnTo>
                <a:lnTo>
                  <a:pt x="11301258" y="4774782"/>
                </a:lnTo>
                <a:lnTo>
                  <a:pt x="0" y="4774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6258"/>
            <a:ext cx="13958524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Experimentation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2457" y="2751064"/>
            <a:ext cx="7085599" cy="6164471"/>
          </a:xfrm>
          <a:custGeom>
            <a:avLst/>
            <a:gdLst/>
            <a:ahLst/>
            <a:cxnLst/>
            <a:rect r="r" b="b" t="t" l="l"/>
            <a:pathLst>
              <a:path h="6164471" w="7085599">
                <a:moveTo>
                  <a:pt x="0" y="0"/>
                </a:moveTo>
                <a:lnTo>
                  <a:pt x="7085599" y="0"/>
                </a:lnTo>
                <a:lnTo>
                  <a:pt x="7085599" y="6164471"/>
                </a:lnTo>
                <a:lnTo>
                  <a:pt x="0" y="6164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57525" y="3071377"/>
            <a:ext cx="8398514" cy="4545696"/>
          </a:xfrm>
          <a:custGeom>
            <a:avLst/>
            <a:gdLst/>
            <a:ahLst/>
            <a:cxnLst/>
            <a:rect r="r" b="b" t="t" l="l"/>
            <a:pathLst>
              <a:path h="4545696" w="8398514">
                <a:moveTo>
                  <a:pt x="0" y="0"/>
                </a:moveTo>
                <a:lnTo>
                  <a:pt x="8398514" y="0"/>
                </a:lnTo>
                <a:lnTo>
                  <a:pt x="8398514" y="4545696"/>
                </a:lnTo>
                <a:lnTo>
                  <a:pt x="0" y="4545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6258"/>
            <a:ext cx="13958524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Experimentation 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58410" y="2813910"/>
            <a:ext cx="11301259" cy="5678883"/>
          </a:xfrm>
          <a:custGeom>
            <a:avLst/>
            <a:gdLst/>
            <a:ahLst/>
            <a:cxnLst/>
            <a:rect r="r" b="b" t="t" l="l"/>
            <a:pathLst>
              <a:path h="5678883" w="11301259">
                <a:moveTo>
                  <a:pt x="0" y="0"/>
                </a:moveTo>
                <a:lnTo>
                  <a:pt x="11301259" y="0"/>
                </a:lnTo>
                <a:lnTo>
                  <a:pt x="11301259" y="5678883"/>
                </a:lnTo>
                <a:lnTo>
                  <a:pt x="0" y="5678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6258"/>
            <a:ext cx="13958524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06060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Ablation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DAHIt-xnHBM</dc:identifier>
  <dcterms:modified xsi:type="dcterms:W3CDTF">2011-08-01T06:04:30Z</dcterms:modified>
  <cp:revision>1</cp:revision>
  <dc:title>Presentation_CORESA_2026</dc:title>
</cp:coreProperties>
</file>